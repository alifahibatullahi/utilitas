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COVER</a:t>
            </a:r>
          </a:p>
          <a:p/>
          <a:p>
            <a:r>
              <a:t>Pembuka:</a:t>
            </a:r>
          </a:p>
          <a:p>
            <a:r>
              <a:t>- Selamat pagi/siang Bapak/Ibu. Hari ini saya ingin memaparkan inisiatif digitalisasi operasi UBB yang kami sebut PowerOps.</a:t>
            </a:r>
          </a:p>
          <a:p>
            <a:r>
              <a:t>- Fokus presentasi ini adalah dua perbaikan utama yang sudah berjalan: (1) penyederhanaan workflow laporan shift &amp; harian, dan (2) restrukturisasi pencatatan Critical Maintenance dengan dokumentasi foto.</a:t>
            </a:r>
          </a:p>
          <a:p>
            <a:r>
              <a:t>- Tujuan akhirnya satu: Operator bisa fokus mengoperasikan plant, Supervisor fokus mengambil keputusan, tanpa terbebani administrasi berulang.</a:t>
            </a:r>
          </a:p>
          <a:p>
            <a:r>
              <a:t>- Estimasi durasi: ~10-15 menit, dilanjutkan diskusi.</a:t>
            </a:r>
          </a:p>
          <a:p/>
          <a:p>
            <a:r>
              <a:t>Konteks bisnis (untuk Q&amp;A):</a:t>
            </a:r>
          </a:p>
          <a:p>
            <a:r>
              <a:t>- UBB adalah backbone operasi. Setiap menit downtime dan setiap miskomunikasi berdampak ke produksi.</a:t>
            </a:r>
          </a:p>
          <a:p>
            <a:r>
              <a:t>- PowerOps tidak menambah sistem baru yang rumit — justru menggantikan beberapa tools manual menjadi satu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AGENDA</a:t>
            </a:r>
          </a:p>
          <a:p/>
          <a:p>
            <a:r>
              <a:t>- Saya akan bahas tiga hal secara berurutan.</a:t>
            </a:r>
          </a:p>
          <a:p>
            <a:r>
              <a:t>- Yang pertama, alur laporan shift/harian — ini perbaikan paling kelihatan karena dipakai setiap hari, setiap shift.</a:t>
            </a:r>
          </a:p>
          <a:p>
            <a:r>
              <a:t>- Yang kedua, perubahan struktur Critical Maintenance. Dulu setiap entry maintenance berdiri sendiri, jadi sulit melihat kronologi satu pekerjaan utuh. Sekarang dikelompokkan di bawah satu Critical Job.</a:t>
            </a:r>
          </a:p>
          <a:p>
            <a:r>
              <a:t>- Yang ketiga, fitur dokumentasi foto. Ini berlaku tidak hanya untuk Critical, tapi juga Preventif dan Modifikasi.</a:t>
            </a:r>
          </a:p>
          <a:p>
            <a:r>
              <a:t>- Setelah itu saya tutup dengan ringkasan manfaat.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Workflow Laporan Shift &amp; Harian</a:t>
            </a:r>
          </a:p>
          <a:p/>
          <a:p>
            <a:r>
              <a:t>Penjelasan flowchart:</a:t>
            </a:r>
          </a:p>
          <a:p>
            <a:r>
              <a:t>- Sisi kiri (SEBELUM): operator harus menghubungi CCR via HT satu per satu. CCR mencatat di logbook (tulis tangan). Lalu Foreman menulis ulang ke Spreadsheet → ini DOUBLE INPUT, sumber utama inefisiensi &amp; risiko salah ketik. Supervisor lalu masih telepon Washift secara manual.</a:t>
            </a:r>
          </a:p>
          <a:p>
            <a:r>
              <a:t>- Sisi kanan (SESUDAH): operator langsung input di form PowerOps. Data otomatis masuk ke database sebagai SINGLE SOURCE OF TRUTH. Foreman/Supervisor cukup ACC. Setelah ACC, sistem otomatis push laporan ke Washift &amp; WhatsApp Group.</a:t>
            </a:r>
          </a:p>
          <a:p/>
          <a:p>
            <a:r>
              <a:t>Angka kunci yang bisa disebut:</a:t>
            </a:r>
          </a:p>
          <a:p>
            <a:r>
              <a:t>- 5 tools (HT, Logbook, Spreadsheet, Telepon, WA) → 1 tool (PowerOps)</a:t>
            </a:r>
          </a:p>
          <a:p>
            <a:r>
              <a:t>- 3 orang input data (Operator + CCR + Foreman) → 1 orang (Operator saja)</a:t>
            </a:r>
          </a:p>
          <a:p>
            <a:r>
              <a:t>- Distribusi dari MANUAL menjadi OTOMATIS</a:t>
            </a:r>
          </a:p>
          <a:p/>
          <a:p>
            <a:r>
              <a:t>Talking point:</a:t>
            </a:r>
          </a:p>
          <a:p>
            <a:r>
              <a:t>- "Yang paling penting di sini: operator tidak lagi 'kerja administrasi'. Mereka input sekali, dan datanya mengalir otomatis ke semua pihak yang butuh."</a:t>
            </a:r>
          </a:p>
          <a:p>
            <a:r>
              <a:t>- "CCR yang dulu sibuk mencatat logbook sekarang bisa fokus monitoring."</a:t>
            </a:r>
          </a:p>
          <a:p>
            <a:r>
              <a:t>- "Supervisor punya jejak digital — tidak perlu lagi 'menelepon ke Washift', semua tercatat."</a:t>
            </a:r>
          </a:p>
          <a:p/>
          <a:p>
            <a:r>
              <a:t>Antisipasi pertanyaan:</a:t>
            </a:r>
          </a:p>
          <a:p>
            <a:r>
              <a:t>- "Bagaimana kalau jaringan down?" → form bisa di-cache lokal, sync saat online (kalau memang sudah ada).</a:t>
            </a:r>
          </a:p>
          <a:p>
            <a:r>
              <a:t>- "Bagaimana audit trail?" → semua entry tersimpan dengan timestamp, operator, dan jejak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Critical Maintenance</a:t>
            </a:r>
          </a:p>
          <a:p/>
          <a:p>
            <a:r>
              <a:t>Penjelasan struktur:</a:t>
            </a:r>
          </a:p>
          <a:p>
            <a:r>
              <a:t>- SEBELUM: kalau ada masalah Pompa A misalnya, setiap tindakan (deteksi bocor, ganti seal, test running, serah terima) dicatat sebagai entry Critical TERSENDIRI. Jadi di sistem kita lihat Critical #001, #002, #003, #004 — semuanya independen, tidak saling tahu.</a:t>
            </a:r>
          </a:p>
          <a:p>
            <a:r>
              <a:t>  - Masalahnya: kalau atasan atau auditor mau melihat "Bagaimana sih kronologi pekerjaan perbaikan Pompa A?" — kita harus menelusuri satu per satu, manual. Sulit melihat gambaran utuh.</a:t>
            </a:r>
          </a:p>
          <a:p/>
          <a:p>
            <a:r>
              <a:t>- SESUDAH: kita perkenalkan konsep CRITICAL JOB sebagai parent/induk. Satu Critical Job ("Perbaikan Pompa A") menaungi beberapa Maintenance items (inspeksi, ganti seal, test running, closeout) secara berurutan.</a:t>
            </a:r>
          </a:p>
          <a:p>
            <a:r>
              <a:t>  - Manfaat: kronologi terbaca dari atas ke bawah. Status pekerjaan utuh terlihat dalam satu tampilan. Mau review pekerjaan minggu lalu? Tinggal buka Critical Job-nya.</a:t>
            </a:r>
          </a:p>
          <a:p/>
          <a:p>
            <a:r>
              <a:t>Talking point:</a:t>
            </a:r>
          </a:p>
          <a:p>
            <a:r>
              <a:t>- "Ini bukan hanya soal rapi — ini soal organizational memory. 6 bulan lagi kalau pompa yang sama bermasalah, kita tinggal buka Critical Job lama untuk lihat apa saja yang sudah pernah dilakukan dan apa hasilnya."</a:t>
            </a:r>
          </a:p>
          <a:p>
            <a:r>
              <a:t>- "Konsep yang sama bisa diterapkan ke Preventif &amp; Modifikasi — semua punya struktur parent-child yang sama."</a:t>
            </a:r>
          </a:p>
          <a:p/>
          <a:p>
            <a:r>
              <a:t>Antisipasi pertanyaan:</a:t>
            </a:r>
          </a:p>
          <a:p>
            <a:r>
              <a:t>- "Bagaimana kalau pekerjaan berkembang di tengah jalan, butuh tambahan maintenance?" → tambah saja item baru di bawah Critical Job yang sudah ada, urutan tetap terjaga.</a:t>
            </a:r>
          </a:p>
          <a:p>
            <a:r>
              <a:t>- "Bagaimana kalau ada Critical Job paralel?" → bisa, sistem mendukung banyak Critical Job berjalan bersamaan dengan owner masing-masing.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Dokumentasi Foto</a:t>
            </a:r>
          </a:p>
          <a:p/>
          <a:p>
            <a:r>
              <a:t>Penjelasan:</a:t>
            </a:r>
          </a:p>
          <a:p>
            <a:r>
              <a:t>- Setiap kali operator/maintenance team membuat entry — apakah itu Critical, Preventif, atau Modifikasi — sistem mewajibkan upload foto.</a:t>
            </a:r>
          </a:p>
          <a:p>
            <a:r>
              <a:t>- Foto ini menjadi bukti visual: kondisi sebelum tindakan, proses pengerjaan, dan hasil akhir (kalau perlu beberapa foto).</a:t>
            </a:r>
          </a:p>
          <a:p>
            <a:r>
              <a:t>- Tiga tipe pekerjaan punya warna berbeda di UI (merah untuk Critical, biru untuk Preventif, oranye untuk Modifikasi) — supaya filter &amp; sorting cepat.</a:t>
            </a:r>
          </a:p>
          <a:p/>
          <a:p>
            <a:r>
              <a:t>Tiga manfaat utama (yang ada di kartu bawah slide):</a:t>
            </a:r>
          </a:p>
          <a:p>
            <a:r>
              <a:t>1. Verifikasi cepat — supervisor tidak perlu turun ke lapangan untuk konfirmasi kondisi, cukup lihat foto + deskripsi di sistem.</a:t>
            </a:r>
          </a:p>
          <a:p>
            <a:r>
              <a:t>2. Knowledge base — kalau 3 bulan lagi ada masalah serupa, kita tinggal cari foto pekerjaan sebelumnya untuk referensi cara penanganan.</a:t>
            </a:r>
          </a:p>
          <a:p>
            <a:r>
              <a:t>3. Audit-ready — untuk kepatuhan internal &amp; audit eksternal, kita punya bukti visual lengkap dengan timestamp, lokasi (kalau ada GPS), dan operator yang bertanggung jawab.</a:t>
            </a:r>
          </a:p>
          <a:p/>
          <a:p>
            <a:r>
              <a:t>Talking point:</a:t>
            </a:r>
          </a:p>
          <a:p>
            <a:r>
              <a:t>- "Selama ini banyak pekerjaan maintenance dilaporkan hanya dengan teks. 6 bulan kemudian kita lupa konteksnya. Dengan foto, ingatan organisasi terjaga."</a:t>
            </a:r>
          </a:p>
          <a:p>
            <a:r>
              <a:t>- "Ini juga membantu transfer knowledge ke operator baru — mereka bisa belajar dari riwayat pekerjaan dengan visual yang jelas."</a:t>
            </a:r>
          </a:p>
          <a:p/>
          <a:p>
            <a:r>
              <a:t>Antisipasi pertanyaan:</a:t>
            </a:r>
          </a:p>
          <a:p>
            <a:r>
              <a:t>- "Apakah wajib foto saat entry, atau bisa diupload kemudian?" → bisa keduanya, tapi sistem akan mengingatkan kalau ada entry tanpa foto setelah 24 jam.</a:t>
            </a:r>
          </a:p>
          <a:p>
            <a:r>
              <a:t>- "Bagaimana kalau foto besar / storage?" → otomatis di-compress saat upload, hemat storage tanpa kehilangan detail penting.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Ringkasan</a:t>
            </a:r>
          </a:p>
          <a:p/>
          <a:p>
            <a:r>
              <a:t>Closing message:</a:t>
            </a:r>
          </a:p>
          <a:p>
            <a:r>
              <a:t>- Tiga perbaikan ini saling melengkapi:</a:t>
            </a:r>
          </a:p>
          <a:p>
            <a:r>
              <a:t>  1. Workflow laporan: efisiensi input &amp; distribusi.</a:t>
            </a:r>
          </a:p>
          <a:p>
            <a:r>
              <a:t>  2. Critical Job: struktur pekerjaan &amp; kronologi.</a:t>
            </a:r>
          </a:p>
          <a:p>
            <a:r>
              <a:t>  3. Foto: bukti visual &amp; knowledge.</a:t>
            </a:r>
          </a:p>
          <a:p/>
          <a:p>
            <a:r>
              <a:t>- Bersama-sama, PowerOps mengubah operasi UBB dari "banyak channel, banyak input, banyak salah" menjadi "satu platform, satu input, akuntabel &amp; bisa diaudit".</a:t>
            </a:r>
          </a:p>
          <a:p/>
          <a:p>
            <a:r>
              <a:t>Pesan untuk atasan:</a:t>
            </a:r>
          </a:p>
          <a:p>
            <a:r>
              <a:t>- "Yang ingin saya tekankan: ini bukan tools baru yang menambah beban. Justru sebaliknya — kami memangkas pekerjaan administratif yang selama ini membebani operator dan foreman."</a:t>
            </a:r>
          </a:p>
          <a:p>
            <a:r>
              <a:t>- "Investasi awal sudah berjalan. Yang dibutuhkan sekarang adalah dukungan untuk adopsi penuh — termasuk training singkat untuk operator senior."</a:t>
            </a:r>
          </a:p>
          <a:p/>
          <a:p>
            <a:r>
              <a:t>Next step (kalau ditanya):</a:t>
            </a:r>
          </a:p>
          <a:p>
            <a:r>
              <a:t>- Roll-out bertahap ke semua shift dalam 2 bulan.</a:t>
            </a:r>
          </a:p>
          <a:p>
            <a:r>
              <a:t>- Review berkala (bulanan) untuk evaluasi adopsi &amp; feedback dari user.</a:t>
            </a:r>
          </a:p>
          <a:p>
            <a:r>
              <a:t>- Integrasi lanjutan: dashboard manajemen, alert otomatis untuk Critical Job yang tertunda, dll.</a:t>
            </a:r>
          </a:p>
          <a:p/>
          <a:p>
            <a:r>
              <a:t>Tutup dengan:</a:t>
            </a:r>
          </a:p>
          <a:p>
            <a:r>
              <a:t>- "Terima kasih. Mohon arahan dan masukan Bapak/Ibu."</a:t>
            </a:r>
          </a:p>
          <a:p>
            <a:r>
              <a:t>- Siap menerima pertanyaan.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0"/>
            <a:ext cx="73152" cy="68580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-1371600"/>
            <a:ext cx="3200400" cy="3200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A000"/>
                </a:solidFill>
                <a:latin typeface="Calibri"/>
              </a:rPr>
              <a:t>PROYEK DIGITALISASI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A5D6A7"/>
                </a:solidFill>
                <a:latin typeface="Calibri"/>
              </a:rPr>
              <a:t>Unit Boiler &amp; Biomassa Agroindustri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Presenter: Tim Operasi UBB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63040"/>
            <a:ext cx="6400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200" b="1">
                <a:solidFill>
                  <a:srgbClr val="1B5E20"/>
                </a:solidFill>
                <a:latin typeface="Calibri"/>
              </a:rPr>
              <a:t>PowerOps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651760"/>
            <a:ext cx="6400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B3024"/>
                </a:solidFill>
                <a:latin typeface="Calibri"/>
              </a:rPr>
              <a:t>Digitalisasi Workflow Operasi UBB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566160"/>
            <a:ext cx="64008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5C7A6A"/>
                </a:solidFill>
                <a:latin typeface="Calibri"/>
              </a:rPr>
              <a:t>Workflow Laporan Shift &amp; Harian</a:t>
            </a:r>
          </a:p>
          <a:p>
            <a:pPr algn="l"/>
            <a:r>
              <a:rPr sz="1800" b="0">
                <a:solidFill>
                  <a:srgbClr val="5C7A6A"/>
                </a:solidFill>
                <a:latin typeface="Calibri"/>
              </a:rPr>
              <a:t>Pengelompokan Critical Maintenance</a:t>
            </a:r>
          </a:p>
          <a:p>
            <a:pPr algn="l"/>
            <a:r>
              <a:rPr sz="1800" b="0">
                <a:solidFill>
                  <a:srgbClr val="5C7A6A"/>
                </a:solidFill>
                <a:latin typeface="Calibri"/>
              </a:rPr>
              <a:t>Dokumentasi Foto Lapangan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5669280"/>
            <a:ext cx="1828800" cy="54864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580644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7A6A"/>
                </a:solidFill>
                <a:latin typeface="Calibri"/>
              </a:rPr>
              <a:t>Operator fokus operasi · Supervisor fokus keputusan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B5E20"/>
                </a:solidFill>
                <a:latin typeface="Calibri"/>
              </a:rPr>
              <a:t>Apa yang akan dibahas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C7A6A"/>
                </a:solidFill>
                <a:latin typeface="Calibri"/>
              </a:rPr>
              <a:t>Tiga perbaikan utama hasil implementasi PowerOps di UBB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468880"/>
            <a:ext cx="822960" cy="82296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822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2316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B3024"/>
                </a:solidFill>
                <a:latin typeface="Calibri"/>
              </a:rPr>
              <a:t>Workflow Laporan Shift &amp; Harian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52928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C7A6A"/>
                </a:solidFill>
                <a:latin typeface="Calibri"/>
              </a:rPr>
              <a:t>Dari 5 tools terpisah menjadi 1 platform terpusat. Distribusi laporan otomatis ke Washift &amp; WhatsApp Group.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703320"/>
            <a:ext cx="822960" cy="82296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22192"/>
            <a:ext cx="822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576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B3024"/>
                </a:solidFill>
                <a:latin typeface="Calibri"/>
              </a:rPr>
              <a:t>Pengelompokan Critical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87368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C7A6A"/>
                </a:solidFill>
                <a:latin typeface="Calibri"/>
              </a:rPr>
              <a:t>Critical &amp; Maintenance dulu berdiri sendiri-sendiri. Sekarang satu Critical Job menaungi banyak Maintenance terkait — kronologi pekerjaan jadi jelas.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937760"/>
            <a:ext cx="822960" cy="82296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56632"/>
            <a:ext cx="822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89204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B3024"/>
                </a:solidFill>
                <a:latin typeface="Calibri"/>
              </a:rPr>
              <a:t>Dokumentasi Foto Lapangan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321808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C7A6A"/>
                </a:solidFill>
                <a:latin typeface="Calibri"/>
              </a:rPr>
              <a:t>Foto wajib menyertai setiap entry Critical, Preventif, dan Modifikasi — bukti visual langsung dari lapangan, audit-ready.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5C7A6A"/>
                </a:solidFill>
              </a:rPr>
              <a:t>PowerOps · Digitalisasi Operasi UBB · Internal Use</a:t>
            </a:r>
            <a:r>
              <a:rPr sz="1000">
                <a:solidFill>
                  <a:srgbClr val="5C7A6A"/>
                </a:solidFill>
              </a:rPr>
              <a:t>         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01 · Workflow Laporan Shift &amp; Harian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B5E20"/>
                </a:solidFill>
                <a:latin typeface="Calibri"/>
              </a:rPr>
              <a:t>Dari banyak tools manual → satu platform terpusat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C7A6A"/>
                </a:solidFill>
                <a:latin typeface="Calibri"/>
              </a:rPr>
              <a:t>SEBELUM: operator lapor via HT → CCR catat logbook → Foreman tulis ulang di Spreadsheet → Supervisor telepon Washift.  SESUDAH: operator input langsung di PowerOps, distribusi otomatis.</a:t>
            </a:r>
          </a:p>
        </p:txBody>
      </p:sp>
      <p:pic>
        <p:nvPicPr>
          <p:cNvPr id="8" name="Picture 7" descr="powerops-shift-report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452" y="1828800"/>
            <a:ext cx="4630615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5C7A6A"/>
                </a:solidFill>
              </a:rPr>
              <a:t>PowerOps · Digitalisasi Operasi UBB · Internal Use</a:t>
            </a:r>
            <a:r>
              <a:rPr sz="1000">
                <a:solidFill>
                  <a:srgbClr val="5C7A6A"/>
                </a:solidFill>
              </a:rPr>
              <a:t>         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02 · Pengelompokan Critical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B5E20"/>
                </a:solidFill>
                <a:latin typeface="Calibri"/>
              </a:rPr>
              <a:t>Satu Critical Job → banyak Maintenance terkait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C7A6A"/>
                </a:solidFill>
                <a:latin typeface="Calibri"/>
              </a:rPr>
              <a:t>SEBELUM: tiap maintenance dicatat sebagai entry independen — sulit lihat kronologi.  SESUDAH: dikelompokkan hierarkis di bawah satu Critical Job, alur kerja terbaca dari awal hingga selesai.</a:t>
            </a:r>
          </a:p>
        </p:txBody>
      </p:sp>
      <p:pic>
        <p:nvPicPr>
          <p:cNvPr id="8" name="Picture 7" descr="powerops-critical-mainte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576" y="1828800"/>
            <a:ext cx="3282368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5C7A6A"/>
                </a:solidFill>
              </a:rPr>
              <a:t>PowerOps · Digitalisasi Operasi UBB · Internal Use</a:t>
            </a:r>
            <a:r>
              <a:rPr sz="1000">
                <a:solidFill>
                  <a:srgbClr val="5C7A6A"/>
                </a:solidFill>
              </a:rPr>
              <a:t>         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03 · Dokumentasi Foto Lapangan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B5E20"/>
                </a:solidFill>
                <a:latin typeface="Calibri"/>
              </a:rPr>
              <a:t>Setiap entry wajib menyertakan foto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C7A6A"/>
                </a:solidFill>
                <a:latin typeface="Calibri"/>
              </a:rPr>
              <a:t>Berlaku untuk Critical, Preventif, dan Modifikasi — visual evidence langsung dari lapangan untuk verifikasi, audit, dan knowledge base.</a:t>
            </a:r>
          </a:p>
        </p:txBody>
      </p:sp>
      <p:pic>
        <p:nvPicPr>
          <p:cNvPr id="8" name="Picture 7" descr="powerops-photo-fe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828800"/>
            <a:ext cx="7315200" cy="3474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440680"/>
            <a:ext cx="3657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53212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1B3024"/>
                </a:solidFill>
                <a:latin typeface="Calibri"/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495544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B3024"/>
                </a:solidFill>
                <a:latin typeface="Calibri"/>
              </a:rPr>
              <a:t>Verifikasi cepat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788152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7A6A"/>
                </a:solidFill>
                <a:latin typeface="Calibri"/>
              </a:rPr>
              <a:t>Supervisor &amp; foreman bisa konfirmasi kondisi tanpa harus turun ke lapangan.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5440680"/>
            <a:ext cx="3657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553212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1B3024"/>
                </a:solidFill>
                <a:latin typeface="Calibri"/>
              </a:rPr>
              <a:t>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5495544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B3024"/>
                </a:solidFill>
                <a:latin typeface="Calibri"/>
              </a:rPr>
              <a:t>Knowledge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5788152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7A6A"/>
                </a:solidFill>
                <a:latin typeface="Calibri"/>
              </a:rPr>
              <a:t>Foto tersimpan permanen → referensi untuk pekerjaan serupa di masa depan.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5440680"/>
            <a:ext cx="3657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553212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1B3024"/>
                </a:solidFill>
                <a:latin typeface="Calibri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5495544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B3024"/>
                </a:solidFill>
                <a:latin typeface="Calibri"/>
              </a:rPr>
              <a:t>Audit-ready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5788152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C7A6A"/>
                </a:solidFill>
                <a:latin typeface="Calibri"/>
              </a:rPr>
              <a:t>Bukti visual + timestamp + operator → kepatuhan &amp; traceability terjamin.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5C7A6A"/>
                </a:solidFill>
              </a:rPr>
              <a:t>PowerOps · Digitalisasi Operasi UBB · Internal Use</a:t>
            </a:r>
            <a:r>
              <a:rPr sz="1000">
                <a:solidFill>
                  <a:srgbClr val="5C7A6A"/>
                </a:solidFill>
              </a:rPr>
              <a:t>         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Ringkasan &amp; Manfaat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B5E20"/>
                </a:solidFill>
                <a:latin typeface="Calibri"/>
              </a:rPr>
              <a:t>Apa yang berubah, dan kenapa penting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743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743200" cy="137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3774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1B5E20"/>
                </a:solidFill>
                <a:latin typeface="Calibri"/>
              </a:rPr>
              <a:t>−80%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B3024"/>
                </a:solidFill>
                <a:latin typeface="Calibri"/>
              </a:rPr>
              <a:t>Tools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C7A6A"/>
                </a:solidFill>
                <a:latin typeface="Calibri"/>
              </a:rPr>
              <a:t>Dari 5 channel terpisah menjadi 1 platform PowerOps.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828800"/>
            <a:ext cx="2743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1828800"/>
            <a:ext cx="2743200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2148840"/>
            <a:ext cx="23774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2E7D32"/>
                </a:solidFill>
                <a:latin typeface="Calibri"/>
              </a:rPr>
              <a:t>1×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31089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B3024"/>
                </a:solidFill>
                <a:latin typeface="Calibri"/>
              </a:rPr>
              <a:t>Input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347472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C7A6A"/>
                </a:solidFill>
                <a:latin typeface="Calibri"/>
              </a:rPr>
              <a:t>Operator input sekali — sistem distribusi otomatis.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828800"/>
            <a:ext cx="2743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4" y="1828800"/>
            <a:ext cx="2743200" cy="13716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148840"/>
            <a:ext cx="23774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FFA000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1089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B3024"/>
                </a:solidFill>
                <a:latin typeface="Calibri"/>
              </a:rPr>
              <a:t>Pekerjaan terstruktur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47472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C7A6A"/>
                </a:solidFill>
                <a:latin typeface="Calibri"/>
              </a:rPr>
              <a:t>Critical Job mengelompokkan maintenance secara kronologis.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34856" y="1828800"/>
            <a:ext cx="2743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34856" y="1828800"/>
            <a:ext cx="2743200" cy="13716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7736" y="2148840"/>
            <a:ext cx="23774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6D4C41"/>
                </a:solidFill>
                <a:latin typeface="Calibri"/>
              </a:rPr>
              <a:t>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089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B3024"/>
                </a:solidFill>
                <a:latin typeface="Calibri"/>
              </a:rPr>
              <a:t>Bukti visual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347472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C7A6A"/>
                </a:solidFill>
                <a:latin typeface="Calibri"/>
              </a:rPr>
              <a:t>Foto wajib di setiap Critical / Preventif / Modifikasi.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480560"/>
            <a:ext cx="11064240" cy="16459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A000"/>
                </a:solidFill>
                <a:latin typeface="Calibri"/>
              </a:rPr>
              <a:t>DAMPAK NYATA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98348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Operator fokus mengoperasikan plant. Supervisor fokus mengambil keputusan. Manajemen melihat status pekerjaan utuh — dengan bukti foto — kapan saja.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5C7A6A"/>
                </a:solidFill>
              </a:rPr>
              <a:t>PowerOps · Digitalisasi Operasi UBB · Internal Use</a:t>
            </a:r>
            <a:r>
              <a:rPr sz="1000">
                <a:solidFill>
                  <a:srgbClr val="5C7A6A"/>
                </a:solidFill>
              </a:rPr>
              <a:t>         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