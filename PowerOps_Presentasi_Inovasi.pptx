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72" r:id="rId7"/>
    <p:sldId id="273" r:id="rId8"/>
    <p:sldId id="274" r:id="rId9"/>
    <p:sldId id="275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172200"/>
            <a:ext cx="12191695" cy="13716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ardrop 4"/>
          <p:cNvSpPr/>
          <p:nvPr/>
        </p:nvSpPr>
        <p:spPr>
          <a:xfrm rot="19800000">
            <a:off x="10972800" y="457200"/>
            <a:ext cx="822960" cy="822960"/>
          </a:xfrm>
          <a:prstGeom prst="teardrop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ardrop 5"/>
          <p:cNvSpPr/>
          <p:nvPr/>
        </p:nvSpPr>
        <p:spPr>
          <a:xfrm rot="19800000">
            <a:off x="10424160" y="822960"/>
            <a:ext cx="548640" cy="548640"/>
          </a:xfrm>
          <a:prstGeom prst="teardrop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ardrop 6"/>
          <p:cNvSpPr/>
          <p:nvPr/>
        </p:nvSpPr>
        <p:spPr>
          <a:xfrm rot="19800000">
            <a:off x="365760" y="5486400"/>
            <a:ext cx="640080" cy="640080"/>
          </a:xfrm>
          <a:prstGeom prst="teardrop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371600" y="2103120"/>
            <a:ext cx="9418320" cy="3474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0" y="2423160"/>
            <a:ext cx="886968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000" b="1" dirty="0">
                <a:solidFill>
                  <a:srgbClr val="2E7D32"/>
                </a:solidFill>
                <a:latin typeface="Calibri"/>
              </a:rPr>
              <a:t>INOVASI DIGITAL • </a:t>
            </a:r>
            <a:r>
              <a:rPr sz="2000" b="1" dirty="0" smtClean="0">
                <a:solidFill>
                  <a:srgbClr val="2E7D32"/>
                </a:solidFill>
                <a:latin typeface="Calibri"/>
              </a:rPr>
              <a:t>UTILITAS BATUBARA</a:t>
            </a:r>
            <a:endParaRPr sz="2000" b="1" dirty="0">
              <a:solidFill>
                <a:srgbClr val="2E7D32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61007" y="2606039"/>
            <a:ext cx="886968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7200" b="1" dirty="0" err="1">
                <a:solidFill>
                  <a:srgbClr val="1B5E20"/>
                </a:solidFill>
                <a:latin typeface="Calibri"/>
              </a:rPr>
              <a:t>PowerOps</a:t>
            </a:r>
            <a:endParaRPr sz="7200" b="1" dirty="0">
              <a:solidFill>
                <a:srgbClr val="1B5E20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61007" y="3840480"/>
            <a:ext cx="8869680" cy="39395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id-ID" sz="2200" b="1" dirty="0" smtClean="0">
                <a:solidFill>
                  <a:srgbClr val="22332B"/>
                </a:solidFill>
                <a:latin typeface="Calibri"/>
              </a:rPr>
              <a:t>SISTEM DIGITAL OPERASI UTILITAS BATUBARA</a:t>
            </a:r>
            <a:endParaRPr lang="id-ID" sz="2200" b="1" dirty="0">
              <a:solidFill>
                <a:srgbClr val="22332B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45920" y="4402522"/>
            <a:ext cx="8869680" cy="60939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id-ID" dirty="0">
                <a:latin typeface="+mj-lt"/>
              </a:rPr>
              <a:t>PowerOps </a:t>
            </a:r>
            <a:r>
              <a:rPr lang="id-ID" b="1" dirty="0">
                <a:latin typeface="+mj-lt"/>
              </a:rPr>
              <a:t>memperkuat</a:t>
            </a:r>
            <a:r>
              <a:rPr lang="id-ID" dirty="0">
                <a:latin typeface="+mj-lt"/>
              </a:rPr>
              <a:t> keandalan operasi UBB dengan </a:t>
            </a:r>
            <a:r>
              <a:rPr lang="id-ID" b="1" dirty="0">
                <a:latin typeface="+mj-lt"/>
              </a:rPr>
              <a:t>mengurangi</a:t>
            </a:r>
            <a:r>
              <a:rPr lang="id-ID" dirty="0">
                <a:latin typeface="+mj-lt"/>
              </a:rPr>
              <a:t> pekerjaan </a:t>
            </a:r>
            <a:r>
              <a:rPr lang="id-ID" dirty="0" smtClean="0">
                <a:latin typeface="+mj-lt"/>
              </a:rPr>
              <a:t>administratif dan </a:t>
            </a:r>
            <a:r>
              <a:rPr lang="id-ID" b="1" dirty="0">
                <a:latin typeface="+mj-lt"/>
              </a:rPr>
              <a:t>mempermudah</a:t>
            </a:r>
            <a:r>
              <a:rPr lang="id-ID" dirty="0">
                <a:latin typeface="+mj-lt"/>
              </a:rPr>
              <a:t> pengawasan real-time oleh CCR maupun manajemen</a:t>
            </a:r>
            <a:endParaRPr b="0" dirty="0">
              <a:latin typeface="+mj-l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303520" y="5257800"/>
            <a:ext cx="1554480" cy="3175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420817"/>
            <a:ext cx="11277295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1" dirty="0" err="1">
                <a:solidFill>
                  <a:srgbClr val="FFFFFF"/>
                </a:solidFill>
                <a:latin typeface="Calibri"/>
              </a:rPr>
              <a:t>Teknologi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Calibri"/>
              </a:rPr>
              <a:t>untuk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Calibri"/>
              </a:rPr>
              <a:t>Mendukung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1" dirty="0" err="1" smtClean="0">
                <a:solidFill>
                  <a:srgbClr val="FFFFFF"/>
                </a:solidFill>
                <a:latin typeface="Calibri"/>
              </a:rPr>
              <a:t>Operasi</a:t>
            </a:r>
            <a:r>
              <a:rPr sz="1600" b="1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Agro-</a:t>
            </a:r>
            <a:r>
              <a:rPr sz="1600" b="1" dirty="0" err="1">
                <a:solidFill>
                  <a:srgbClr val="FFFFFF"/>
                </a:solidFill>
                <a:latin typeface="Calibri"/>
              </a:rPr>
              <a:t>Industri</a:t>
            </a:r>
            <a:endParaRPr sz="1600" b="1" dirty="0">
              <a:solidFill>
                <a:srgbClr val="FFFFFF"/>
              </a:solidFill>
              <a:latin typeface="Calibri"/>
            </a:endParaRPr>
          </a:p>
        </p:txBody>
      </p:sp>
      <p:grpSp>
        <p:nvGrpSpPr>
          <p:cNvPr id="21" name="Group 26"/>
          <p:cNvGrpSpPr/>
          <p:nvPr/>
        </p:nvGrpSpPr>
        <p:grpSpPr>
          <a:xfrm>
            <a:off x="3204016" y="422495"/>
            <a:ext cx="5753488" cy="903287"/>
            <a:chOff x="0" y="0"/>
            <a:chExt cx="7671317" cy="1204383"/>
          </a:xfrm>
        </p:grpSpPr>
        <p:sp>
          <p:nvSpPr>
            <p:cNvPr id="22" name="Freeform 27"/>
            <p:cNvSpPr/>
            <p:nvPr/>
          </p:nvSpPr>
          <p:spPr>
            <a:xfrm>
              <a:off x="2186193" y="145301"/>
              <a:ext cx="2319635" cy="913782"/>
            </a:xfrm>
            <a:custGeom>
              <a:avLst/>
              <a:gdLst/>
              <a:ahLst/>
              <a:cxnLst/>
              <a:rect l="l" t="t" r="r" b="b"/>
              <a:pathLst>
                <a:path w="2319635" h="913782">
                  <a:moveTo>
                    <a:pt x="0" y="0"/>
                  </a:moveTo>
                  <a:lnTo>
                    <a:pt x="2319635" y="0"/>
                  </a:lnTo>
                  <a:lnTo>
                    <a:pt x="2319635" y="913781"/>
                  </a:lnTo>
                  <a:lnTo>
                    <a:pt x="0" y="9137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0486" r="-155844"/>
              </a:stretch>
            </a:blipFill>
          </p:spPr>
        </p:sp>
        <p:sp>
          <p:nvSpPr>
            <p:cNvPr id="23" name="Freeform 28"/>
            <p:cNvSpPr/>
            <p:nvPr/>
          </p:nvSpPr>
          <p:spPr>
            <a:xfrm>
              <a:off x="4372486" y="211490"/>
              <a:ext cx="3298831" cy="847592"/>
            </a:xfrm>
            <a:custGeom>
              <a:avLst/>
              <a:gdLst/>
              <a:ahLst/>
              <a:cxnLst/>
              <a:rect l="l" t="t" r="r" b="b"/>
              <a:pathLst>
                <a:path w="3298831" h="847592">
                  <a:moveTo>
                    <a:pt x="0" y="0"/>
                  </a:moveTo>
                  <a:lnTo>
                    <a:pt x="3298831" y="0"/>
                  </a:lnTo>
                  <a:lnTo>
                    <a:pt x="3298831" y="847592"/>
                  </a:lnTo>
                  <a:lnTo>
                    <a:pt x="0" y="847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32411"/>
              </a:stretch>
            </a:blipFill>
          </p:spPr>
        </p:sp>
        <p:sp>
          <p:nvSpPr>
            <p:cNvPr id="24" name="Freeform 29"/>
            <p:cNvSpPr/>
            <p:nvPr/>
          </p:nvSpPr>
          <p:spPr>
            <a:xfrm>
              <a:off x="0" y="0"/>
              <a:ext cx="2141126" cy="1204383"/>
            </a:xfrm>
            <a:custGeom>
              <a:avLst/>
              <a:gdLst/>
              <a:ahLst/>
              <a:cxnLst/>
              <a:rect l="l" t="t" r="r" b="b"/>
              <a:pathLst>
                <a:path w="2141126" h="1204383">
                  <a:moveTo>
                    <a:pt x="0" y="0"/>
                  </a:moveTo>
                  <a:lnTo>
                    <a:pt x="2141126" y="0"/>
                  </a:lnTo>
                  <a:lnTo>
                    <a:pt x="2141126" y="1204383"/>
                  </a:lnTo>
                  <a:lnTo>
                    <a:pt x="0" y="1204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ardrop 2"/>
          <p:cNvSpPr/>
          <p:nvPr/>
        </p:nvSpPr>
        <p:spPr>
          <a:xfrm rot="19800000">
            <a:off x="11475720" y="228600"/>
            <a:ext cx="411480" cy="411480"/>
          </a:xfrm>
          <a:prstGeom prst="teardrop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ardrop 3"/>
          <p:cNvSpPr/>
          <p:nvPr/>
        </p:nvSpPr>
        <p:spPr>
          <a:xfrm rot="19800000">
            <a:off x="11201400" y="411480"/>
            <a:ext cx="320040" cy="320040"/>
          </a:xfrm>
          <a:prstGeom prst="teardrop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601200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800" b="1" dirty="0" err="1">
                <a:solidFill>
                  <a:srgbClr val="1B5E20"/>
                </a:solidFill>
                <a:latin typeface="Calibri"/>
              </a:rPr>
              <a:t>Latar</a:t>
            </a:r>
            <a:r>
              <a:rPr sz="2800" b="1" dirty="0">
                <a:solidFill>
                  <a:srgbClr val="1B5E20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1B5E20"/>
                </a:solidFill>
                <a:latin typeface="Calibri"/>
              </a:rPr>
              <a:t>Belakang</a:t>
            </a:r>
            <a:r>
              <a:rPr sz="2800" b="1" dirty="0">
                <a:solidFill>
                  <a:srgbClr val="1B5E20"/>
                </a:solidFill>
                <a:latin typeface="Calibri"/>
              </a:rPr>
              <a:t> — </a:t>
            </a:r>
            <a:r>
              <a:rPr sz="2800" b="1" dirty="0" err="1">
                <a:solidFill>
                  <a:srgbClr val="1B5E20"/>
                </a:solidFill>
                <a:latin typeface="Calibri"/>
              </a:rPr>
              <a:t>Kondisi</a:t>
            </a:r>
            <a:r>
              <a:rPr sz="2800" b="1" dirty="0">
                <a:solidFill>
                  <a:srgbClr val="1B5E20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1B5E20"/>
                </a:solidFill>
                <a:latin typeface="Calibri"/>
              </a:rPr>
              <a:t>Saat</a:t>
            </a:r>
            <a:r>
              <a:rPr sz="2800" b="1" dirty="0">
                <a:solidFill>
                  <a:srgbClr val="1B5E20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1B5E20"/>
                </a:solidFill>
                <a:latin typeface="Calibri"/>
              </a:rPr>
              <a:t>Ini</a:t>
            </a:r>
            <a:endParaRPr sz="2800" b="1" dirty="0">
              <a:solidFill>
                <a:srgbClr val="1B5E2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6256" y="827736"/>
            <a:ext cx="9601200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nn-NO" sz="2400" b="1" dirty="0" smtClean="0">
                <a:latin typeface="+mj-lt"/>
              </a:rPr>
              <a:t>4 Masalah Operasional </a:t>
            </a:r>
            <a:r>
              <a:rPr lang="id-ID" sz="2400" b="1" dirty="0" smtClean="0">
                <a:latin typeface="+mj-lt"/>
              </a:rPr>
              <a:t>y</a:t>
            </a:r>
            <a:r>
              <a:rPr lang="nn-NO" sz="2400" b="1" dirty="0" smtClean="0">
                <a:latin typeface="+mj-lt"/>
              </a:rPr>
              <a:t>ang Ingin Diselesaikan</a:t>
            </a:r>
            <a:endParaRPr lang="nn-NO" sz="2400" b="1" dirty="0"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234439"/>
            <a:ext cx="5832000" cy="45719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dirty="0">
                <a:solidFill>
                  <a:srgbClr val="5C6B63"/>
                </a:solidFill>
                <a:latin typeface="Calibri"/>
              </a:rPr>
              <a:t>2</a:t>
            </a:r>
            <a:r>
              <a:rPr sz="1000" b="0" dirty="0" smtClean="0">
                <a:solidFill>
                  <a:srgbClr val="5C6B63"/>
                </a:solidFill>
                <a:latin typeface="Calibri"/>
              </a:rPr>
              <a:t> </a:t>
            </a:r>
            <a:r>
              <a:rPr sz="1000" b="0" dirty="0">
                <a:solidFill>
                  <a:srgbClr val="5C6B63"/>
                </a:solidFill>
                <a:latin typeface="Calibri"/>
              </a:rPr>
              <a:t>/ </a:t>
            </a:r>
            <a:r>
              <a:rPr sz="1000" dirty="0" smtClean="0">
                <a:solidFill>
                  <a:srgbClr val="5C6B63"/>
                </a:solidFill>
                <a:latin typeface="Calibri"/>
              </a:rPr>
              <a:t>14</a:t>
            </a:r>
            <a:endParaRPr sz="1000" b="0" dirty="0">
              <a:solidFill>
                <a:srgbClr val="5C6B63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PowerOps  •  Inovasi Digital UBB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600200"/>
            <a:ext cx="5532120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1737360"/>
            <a:ext cx="73152" cy="20574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1783080"/>
            <a:ext cx="7315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>
                <a:solidFill>
                  <a:srgbClr val="C62828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1737360"/>
            <a:ext cx="4343400" cy="67095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pt-BR" sz="2000" b="1" dirty="0" smtClean="0">
                <a:solidFill>
                  <a:srgbClr val="1B5E20"/>
                </a:solidFill>
                <a:latin typeface="Calibri"/>
              </a:rPr>
              <a:t>BELUM ADA DASHBOARD PARAMETER AKTUAL UBB</a:t>
            </a:r>
            <a:endParaRPr lang="pt-BR" sz="2000" b="1" dirty="0">
              <a:solidFill>
                <a:srgbClr val="1B5E20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0100" y="2727763"/>
            <a:ext cx="5029200" cy="67095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000" b="0" dirty="0" err="1">
                <a:latin typeface="Calibri"/>
              </a:rPr>
              <a:t>Manajemen</a:t>
            </a:r>
            <a:r>
              <a:rPr sz="2000" b="0" dirty="0">
                <a:latin typeface="Calibri"/>
              </a:rPr>
              <a:t> &amp; CCR </a:t>
            </a:r>
            <a:r>
              <a:rPr sz="2000" b="1" u="sng" dirty="0" err="1" smtClean="0">
                <a:latin typeface="Calibri"/>
              </a:rPr>
              <a:t>belum</a:t>
            </a:r>
            <a:r>
              <a:rPr sz="2000" b="1" u="sng" dirty="0" smtClean="0">
                <a:latin typeface="Calibri"/>
              </a:rPr>
              <a:t> </a:t>
            </a:r>
            <a:r>
              <a:rPr sz="2000" b="1" u="sng" dirty="0" err="1" smtClean="0">
                <a:latin typeface="Calibri"/>
              </a:rPr>
              <a:t>memiliki</a:t>
            </a:r>
            <a:r>
              <a:rPr sz="2000" b="1" u="sng" dirty="0" smtClean="0">
                <a:latin typeface="Calibri"/>
              </a:rPr>
              <a:t> </a:t>
            </a:r>
            <a:r>
              <a:rPr sz="2000" b="0" dirty="0">
                <a:latin typeface="Calibri"/>
              </a:rPr>
              <a:t>single source of truth </a:t>
            </a:r>
            <a:r>
              <a:rPr sz="2000" b="0" dirty="0" err="1">
                <a:latin typeface="Calibri"/>
              </a:rPr>
              <a:t>untuk</a:t>
            </a:r>
            <a:r>
              <a:rPr sz="2000" b="0" dirty="0">
                <a:latin typeface="Calibri"/>
              </a:rPr>
              <a:t> </a:t>
            </a:r>
            <a:r>
              <a:rPr sz="2000" b="1" u="sng" dirty="0" smtClean="0">
                <a:latin typeface="Calibri"/>
              </a:rPr>
              <a:t>status </a:t>
            </a:r>
            <a:r>
              <a:rPr sz="2000" b="1" u="sng" dirty="0" err="1" smtClean="0">
                <a:latin typeface="Calibri"/>
              </a:rPr>
              <a:t>operasi</a:t>
            </a:r>
            <a:r>
              <a:rPr sz="2000" b="1" u="sng" dirty="0" smtClean="0">
                <a:latin typeface="Calibri"/>
              </a:rPr>
              <a:t> real-time</a:t>
            </a:r>
            <a:r>
              <a:rPr sz="2000" b="0" dirty="0" smtClean="0">
                <a:latin typeface="Calibri"/>
              </a:rPr>
              <a:t>.</a:t>
            </a:r>
            <a:endParaRPr sz="2000" b="0" dirty="0"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63640" y="1600200"/>
            <a:ext cx="5532120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737360"/>
            <a:ext cx="73152" cy="20574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783080"/>
            <a:ext cx="7315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>
                <a:solidFill>
                  <a:srgbClr val="C62828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7013" y="1737360"/>
            <a:ext cx="4343400" cy="67095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id-ID" sz="2000" b="1" dirty="0" smtClean="0">
                <a:solidFill>
                  <a:srgbClr val="1B5E20"/>
                </a:solidFill>
                <a:latin typeface="Calibri"/>
              </a:rPr>
              <a:t>LEVEL TANKI HARUS DITANYA VIA HT TIAP 2 JAM</a:t>
            </a:r>
            <a:endParaRPr lang="id-ID" sz="2000" b="1" dirty="0">
              <a:solidFill>
                <a:srgbClr val="1B5E20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15100" y="2573874"/>
            <a:ext cx="5029200" cy="97872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b="0" dirty="0" err="1" smtClean="0">
                <a:latin typeface="Calibri"/>
              </a:rPr>
              <a:t>Utilitas</a:t>
            </a:r>
            <a:r>
              <a:rPr sz="2000" b="0" dirty="0" smtClean="0">
                <a:latin typeface="Calibri"/>
              </a:rPr>
              <a:t> </a:t>
            </a:r>
            <a:r>
              <a:rPr sz="2000" b="0" dirty="0">
                <a:latin typeface="Calibri"/>
              </a:rPr>
              <a:t>1 &amp; </a:t>
            </a:r>
            <a:r>
              <a:rPr sz="2000" b="0" dirty="0" err="1">
                <a:latin typeface="Calibri"/>
              </a:rPr>
              <a:t>Demin</a:t>
            </a:r>
            <a:r>
              <a:rPr sz="2000" b="0" dirty="0">
                <a:latin typeface="Calibri"/>
              </a:rPr>
              <a:t> 3 </a:t>
            </a:r>
            <a:r>
              <a:rPr sz="2000" dirty="0" err="1">
                <a:latin typeface="Calibri"/>
              </a:rPr>
              <a:t>m</a:t>
            </a:r>
            <a:r>
              <a:rPr sz="2000" b="0" dirty="0" err="1" smtClean="0">
                <a:latin typeface="Calibri"/>
              </a:rPr>
              <a:t>enelpon</a:t>
            </a:r>
            <a:r>
              <a:rPr sz="2000" b="0" dirty="0" smtClean="0">
                <a:latin typeface="Calibri"/>
              </a:rPr>
              <a:t> CCR UBB </a:t>
            </a:r>
            <a:r>
              <a:rPr sz="2000" b="0" dirty="0" err="1" smtClean="0">
                <a:latin typeface="Calibri"/>
              </a:rPr>
              <a:t>untuk</a:t>
            </a:r>
            <a:r>
              <a:rPr sz="2000" b="0" dirty="0" smtClean="0">
                <a:latin typeface="Calibri"/>
              </a:rPr>
              <a:t> </a:t>
            </a:r>
            <a:r>
              <a:rPr sz="2000" b="0" dirty="0">
                <a:latin typeface="Calibri"/>
              </a:rPr>
              <a:t>update </a:t>
            </a:r>
            <a:r>
              <a:rPr sz="2000" b="0" dirty="0" smtClean="0">
                <a:latin typeface="Calibri"/>
              </a:rPr>
              <a:t>RCW &amp; </a:t>
            </a:r>
            <a:r>
              <a:rPr sz="2000" b="0" dirty="0" err="1" smtClean="0">
                <a:latin typeface="Calibri"/>
              </a:rPr>
              <a:t>Demin</a:t>
            </a:r>
            <a:r>
              <a:rPr sz="2000" b="0" dirty="0" smtClean="0">
                <a:latin typeface="Calibri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b="1" u="sng" dirty="0" err="1" smtClean="0">
                <a:latin typeface="Calibri"/>
              </a:rPr>
              <a:t>Tidak</a:t>
            </a:r>
            <a:r>
              <a:rPr sz="2000" b="1" u="sng" dirty="0" smtClean="0">
                <a:latin typeface="Calibri"/>
              </a:rPr>
              <a:t> </a:t>
            </a:r>
            <a:r>
              <a:rPr sz="2000" b="1" u="sng" dirty="0" err="1">
                <a:latin typeface="Calibri"/>
              </a:rPr>
              <a:t>ada</a:t>
            </a:r>
            <a:r>
              <a:rPr sz="2000" b="1" u="sng" dirty="0">
                <a:latin typeface="Calibri"/>
              </a:rPr>
              <a:t> history </a:t>
            </a:r>
            <a:r>
              <a:rPr sz="2000" b="1" u="sng" dirty="0" smtClean="0">
                <a:latin typeface="Calibri"/>
              </a:rPr>
              <a:t>level</a:t>
            </a:r>
            <a:r>
              <a:rPr sz="2000" b="1" u="sng" dirty="0">
                <a:latin typeface="Calibri"/>
              </a:rPr>
              <a:t> </a:t>
            </a:r>
            <a:r>
              <a:rPr sz="2000" dirty="0" smtClean="0">
                <a:latin typeface="Calibri"/>
              </a:rPr>
              <a:t>RCW &amp; </a:t>
            </a:r>
            <a:r>
              <a:rPr sz="2000" dirty="0" err="1" smtClean="0">
                <a:latin typeface="Calibri"/>
              </a:rPr>
              <a:t>Demin</a:t>
            </a:r>
            <a:r>
              <a:rPr sz="2000" dirty="0" smtClean="0">
                <a:latin typeface="Calibri"/>
              </a:rPr>
              <a:t>.</a:t>
            </a:r>
            <a:endParaRPr sz="2000" b="0" dirty="0"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48640" y="4069080"/>
            <a:ext cx="5532120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4206240"/>
            <a:ext cx="73152" cy="20574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251960"/>
            <a:ext cx="7315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>
                <a:solidFill>
                  <a:srgbClr val="C62828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200997"/>
            <a:ext cx="4343400" cy="67095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id-ID" sz="2000" b="1" dirty="0" smtClean="0">
                <a:solidFill>
                  <a:srgbClr val="1B5E20"/>
                </a:solidFill>
                <a:latin typeface="Calibri"/>
              </a:rPr>
              <a:t>INPUT LAPORAN MANUAL</a:t>
            </a:r>
            <a:br>
              <a:rPr lang="id-ID" sz="2000" b="1" dirty="0" smtClean="0">
                <a:solidFill>
                  <a:srgbClr val="1B5E20"/>
                </a:solidFill>
                <a:latin typeface="Calibri"/>
              </a:rPr>
            </a:br>
            <a:r>
              <a:rPr lang="id-ID" sz="2000" b="1" dirty="0" smtClean="0">
                <a:solidFill>
                  <a:srgbClr val="1B5E20"/>
                </a:solidFill>
                <a:latin typeface="Calibri"/>
              </a:rPr>
              <a:t>(BUKU → HITUNG → SHEETS)</a:t>
            </a:r>
            <a:endParaRPr lang="id-ID" sz="2000" b="1" dirty="0">
              <a:solidFill>
                <a:srgbClr val="1B5E20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78150" y="5013801"/>
            <a:ext cx="5029200" cy="97872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000" b="0" dirty="0">
                <a:latin typeface="Calibri"/>
              </a:rPr>
              <a:t>Operator </a:t>
            </a:r>
            <a:r>
              <a:rPr sz="2000" b="0" dirty="0" err="1">
                <a:latin typeface="Calibri"/>
              </a:rPr>
              <a:t>tulis</a:t>
            </a:r>
            <a:r>
              <a:rPr sz="2000" b="0" dirty="0">
                <a:latin typeface="Calibri"/>
              </a:rPr>
              <a:t> </a:t>
            </a:r>
            <a:r>
              <a:rPr sz="2000" b="0" dirty="0" err="1">
                <a:latin typeface="Calibri"/>
              </a:rPr>
              <a:t>buku</a:t>
            </a:r>
            <a:r>
              <a:rPr sz="2000" b="0" dirty="0">
                <a:latin typeface="Calibri"/>
              </a:rPr>
              <a:t> + </a:t>
            </a:r>
            <a:r>
              <a:rPr sz="2000" b="0" dirty="0" err="1">
                <a:latin typeface="Calibri"/>
              </a:rPr>
              <a:t>hitung</a:t>
            </a:r>
            <a:r>
              <a:rPr sz="2000" b="0" dirty="0">
                <a:latin typeface="Calibri"/>
              </a:rPr>
              <a:t> </a:t>
            </a:r>
            <a:r>
              <a:rPr sz="2000" b="0" dirty="0" err="1">
                <a:latin typeface="Calibri"/>
              </a:rPr>
              <a:t>kalkulator</a:t>
            </a:r>
            <a:r>
              <a:rPr sz="2000" b="0" dirty="0">
                <a:latin typeface="Calibri"/>
              </a:rPr>
              <a:t>, foreman </a:t>
            </a:r>
            <a:r>
              <a:rPr sz="2000" b="0" dirty="0" err="1">
                <a:latin typeface="Calibri"/>
              </a:rPr>
              <a:t>ketik</a:t>
            </a:r>
            <a:r>
              <a:rPr sz="2000" b="0" dirty="0">
                <a:latin typeface="Calibri"/>
              </a:rPr>
              <a:t> </a:t>
            </a:r>
            <a:r>
              <a:rPr sz="2000" b="0" dirty="0" err="1">
                <a:latin typeface="Calibri"/>
              </a:rPr>
              <a:t>ulang</a:t>
            </a:r>
            <a:r>
              <a:rPr sz="2000" b="0" dirty="0">
                <a:latin typeface="Calibri"/>
              </a:rPr>
              <a:t> di Google </a:t>
            </a:r>
            <a:r>
              <a:rPr sz="2000" b="0" dirty="0" smtClean="0">
                <a:latin typeface="Calibri"/>
              </a:rPr>
              <a:t>Sheets.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000" b="0" dirty="0" err="1" smtClean="0">
                <a:latin typeface="Calibri"/>
              </a:rPr>
              <a:t>Rawan</a:t>
            </a:r>
            <a:r>
              <a:rPr sz="2000" b="0" dirty="0" smtClean="0">
                <a:latin typeface="Calibri"/>
              </a:rPr>
              <a:t> </a:t>
            </a:r>
            <a:r>
              <a:rPr sz="2000" b="1" u="sng" dirty="0" err="1">
                <a:latin typeface="Calibri"/>
              </a:rPr>
              <a:t>salah</a:t>
            </a:r>
            <a:r>
              <a:rPr sz="2000" b="1" u="sng" dirty="0">
                <a:latin typeface="Calibri"/>
              </a:rPr>
              <a:t> </a:t>
            </a:r>
            <a:r>
              <a:rPr sz="2000" b="1" u="sng" dirty="0" err="1" smtClean="0">
                <a:latin typeface="Calibri"/>
              </a:rPr>
              <a:t>hitung</a:t>
            </a:r>
            <a:r>
              <a:rPr sz="2000" b="1" u="sng" dirty="0" smtClean="0">
                <a:latin typeface="Calibri"/>
              </a:rPr>
              <a:t> &amp; double input</a:t>
            </a:r>
            <a:r>
              <a:rPr sz="2000" b="0" dirty="0" smtClean="0">
                <a:latin typeface="Calibri"/>
              </a:rPr>
              <a:t>.</a:t>
            </a:r>
            <a:endParaRPr sz="2000" b="0" dirty="0">
              <a:latin typeface="Calibr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263640" y="4069080"/>
            <a:ext cx="5532120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4206240"/>
            <a:ext cx="73152" cy="20574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4251960"/>
            <a:ext cx="7315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>
                <a:solidFill>
                  <a:srgbClr val="C62828"/>
                </a:solidFill>
                <a:latin typeface="Calibr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7013" y="4200996"/>
            <a:ext cx="4343400" cy="67095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id-ID" sz="2000" b="1" dirty="0" smtClean="0">
                <a:solidFill>
                  <a:srgbClr val="1B5E20"/>
                </a:solidFill>
                <a:latin typeface="Calibri"/>
              </a:rPr>
              <a:t>CRITICAL &amp; MAINTENANCE</a:t>
            </a:r>
            <a:br>
              <a:rPr lang="id-ID" sz="2000" b="1" dirty="0" smtClean="0">
                <a:solidFill>
                  <a:srgbClr val="1B5E20"/>
                </a:solidFill>
                <a:latin typeface="Calibri"/>
              </a:rPr>
            </a:br>
            <a:r>
              <a:rPr lang="id-ID" sz="2000" b="1" dirty="0" smtClean="0">
                <a:solidFill>
                  <a:srgbClr val="1B5E20"/>
                </a:solidFill>
                <a:latin typeface="Calibri"/>
              </a:rPr>
              <a:t>TIDAK TERHUBUNG</a:t>
            </a:r>
            <a:endParaRPr lang="id-ID" sz="2000" b="1" dirty="0">
              <a:solidFill>
                <a:srgbClr val="1B5E20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20832" y="4859912"/>
            <a:ext cx="5029200" cy="128650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000" b="0" dirty="0" err="1">
                <a:latin typeface="Calibri"/>
              </a:rPr>
              <a:t>Laporan</a:t>
            </a:r>
            <a:r>
              <a:rPr sz="2000" b="0" dirty="0">
                <a:latin typeface="Calibri"/>
              </a:rPr>
              <a:t> critical </a:t>
            </a:r>
            <a:r>
              <a:rPr sz="2000" b="0" dirty="0" err="1">
                <a:latin typeface="Calibri"/>
              </a:rPr>
              <a:t>dan</a:t>
            </a:r>
            <a:r>
              <a:rPr sz="2000" b="0" dirty="0">
                <a:latin typeface="Calibri"/>
              </a:rPr>
              <a:t> maintenance </a:t>
            </a:r>
            <a:r>
              <a:rPr sz="2000" b="0" dirty="0" err="1">
                <a:latin typeface="Calibri"/>
              </a:rPr>
              <a:t>dibuat</a:t>
            </a:r>
            <a:r>
              <a:rPr sz="2000" b="0" dirty="0">
                <a:latin typeface="Calibri"/>
              </a:rPr>
              <a:t> </a:t>
            </a:r>
            <a:r>
              <a:rPr sz="2000" b="0" dirty="0" err="1" smtClean="0">
                <a:latin typeface="Calibri"/>
              </a:rPr>
              <a:t>terpisah</a:t>
            </a:r>
            <a:r>
              <a:rPr sz="2000" b="0" dirty="0" smtClean="0">
                <a:latin typeface="Calibri"/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000" b="0" dirty="0" smtClean="0">
                <a:latin typeface="Calibri"/>
              </a:rPr>
              <a:t>History </a:t>
            </a:r>
            <a:r>
              <a:rPr sz="2000" b="0" dirty="0" err="1">
                <a:latin typeface="Calibri"/>
              </a:rPr>
              <a:t>preventif</a:t>
            </a:r>
            <a:r>
              <a:rPr sz="2000" b="0" dirty="0">
                <a:latin typeface="Calibri"/>
              </a:rPr>
              <a:t>/</a:t>
            </a:r>
            <a:r>
              <a:rPr sz="2000" b="0" dirty="0" err="1">
                <a:latin typeface="Calibri"/>
              </a:rPr>
              <a:t>modifikasi</a:t>
            </a:r>
            <a:r>
              <a:rPr sz="2000" b="0" dirty="0">
                <a:latin typeface="Calibri"/>
              </a:rPr>
              <a:t> per item </a:t>
            </a:r>
            <a:r>
              <a:rPr sz="2000" b="0" dirty="0" err="1">
                <a:latin typeface="Calibri"/>
              </a:rPr>
              <a:t>tidak</a:t>
            </a:r>
            <a:r>
              <a:rPr sz="2000" b="0" dirty="0">
                <a:latin typeface="Calibri"/>
              </a:rPr>
              <a:t> </a:t>
            </a:r>
            <a:r>
              <a:rPr sz="2000" b="0" dirty="0" err="1">
                <a:latin typeface="Calibri"/>
              </a:rPr>
              <a:t>tersusun</a:t>
            </a:r>
            <a:r>
              <a:rPr sz="2000" b="0" dirty="0">
                <a:latin typeface="Calibri"/>
              </a:rPr>
              <a:t> </a:t>
            </a:r>
            <a:r>
              <a:rPr sz="2000" b="0" dirty="0" err="1">
                <a:latin typeface="Calibri"/>
              </a:rPr>
              <a:t>rapi</a:t>
            </a:r>
            <a:r>
              <a:rPr sz="2000" b="0" dirty="0">
                <a:latin typeface="Calibri"/>
              </a:rPr>
              <a:t>, </a:t>
            </a:r>
            <a:r>
              <a:rPr sz="2000" b="1" u="sng" dirty="0" err="1">
                <a:latin typeface="Calibri"/>
              </a:rPr>
              <a:t>sulit</a:t>
            </a:r>
            <a:r>
              <a:rPr sz="2000" b="1" u="sng" dirty="0">
                <a:latin typeface="Calibri"/>
              </a:rPr>
              <a:t> </a:t>
            </a:r>
            <a:r>
              <a:rPr sz="2000" b="1" u="sng" dirty="0" err="1">
                <a:latin typeface="Calibri"/>
              </a:rPr>
              <a:t>cari</a:t>
            </a:r>
            <a:r>
              <a:rPr sz="2000" b="1" u="sng" dirty="0">
                <a:latin typeface="Calibri"/>
              </a:rPr>
              <a:t> </a:t>
            </a:r>
            <a:r>
              <a:rPr sz="2000" b="1" u="sng" dirty="0" err="1">
                <a:latin typeface="Calibri"/>
              </a:rPr>
              <a:t>tren</a:t>
            </a:r>
            <a:r>
              <a:rPr sz="2000" b="1" u="sng" dirty="0">
                <a:latin typeface="Calibri"/>
              </a:rPr>
              <a:t> </a:t>
            </a:r>
            <a:r>
              <a:rPr sz="2000" b="1" u="sng" dirty="0" err="1">
                <a:latin typeface="Calibri"/>
              </a:rPr>
              <a:t>kerusakan</a:t>
            </a:r>
            <a:r>
              <a:rPr sz="2000" b="0" dirty="0">
                <a:latin typeface="Calibri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ardrop 2"/>
          <p:cNvSpPr/>
          <p:nvPr/>
        </p:nvSpPr>
        <p:spPr>
          <a:xfrm rot="19800000">
            <a:off x="11475720" y="228600"/>
            <a:ext cx="411480" cy="411480"/>
          </a:xfrm>
          <a:prstGeom prst="teardrop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ardrop 3"/>
          <p:cNvSpPr/>
          <p:nvPr/>
        </p:nvSpPr>
        <p:spPr>
          <a:xfrm rot="19800000">
            <a:off x="11201400" y="411480"/>
            <a:ext cx="320040" cy="320040"/>
          </a:xfrm>
          <a:prstGeom prst="teardrop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>
                <a:solidFill>
                  <a:srgbClr val="1B5E20"/>
                </a:solidFill>
                <a:latin typeface="Calibri"/>
              </a:rPr>
              <a:t>Gagasan: Apa itu PowerOps?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256" y="827736"/>
            <a:ext cx="9601200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id-ID" sz="2400" b="1" dirty="0" smtClean="0">
                <a:solidFill>
                  <a:sysClr val="windowText" lastClr="000000"/>
                </a:solidFill>
                <a:latin typeface="Calibri"/>
              </a:rPr>
              <a:t>Aplikasi Web Terpadu untuk Seluruh Workflow Operasi UBB</a:t>
            </a:r>
            <a:endParaRPr lang="id-ID" sz="2400" b="1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7560000" cy="4680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dirty="0">
                <a:solidFill>
                  <a:srgbClr val="5C6B63"/>
                </a:solidFill>
                <a:latin typeface="Calibri"/>
              </a:rPr>
              <a:t>3</a:t>
            </a:r>
            <a:r>
              <a:rPr sz="1000" b="0" dirty="0" smtClean="0">
                <a:solidFill>
                  <a:srgbClr val="5C6B63"/>
                </a:solidFill>
                <a:latin typeface="Calibri"/>
              </a:rPr>
              <a:t> </a:t>
            </a:r>
            <a:r>
              <a:rPr sz="1000" b="0" dirty="0">
                <a:solidFill>
                  <a:srgbClr val="5C6B63"/>
                </a:solidFill>
                <a:latin typeface="Calibri"/>
              </a:rPr>
              <a:t>/ </a:t>
            </a:r>
            <a:r>
              <a:rPr sz="1000" b="0" dirty="0" smtClean="0">
                <a:solidFill>
                  <a:srgbClr val="5C6B63"/>
                </a:solidFill>
                <a:latin typeface="Calibri"/>
              </a:rPr>
              <a:t>14</a:t>
            </a:r>
            <a:endParaRPr sz="1000" b="0" dirty="0">
              <a:solidFill>
                <a:srgbClr val="5C6B63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PowerOps  •  Inovasi Digital UBB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600200"/>
            <a:ext cx="11064240" cy="128016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9525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691640"/>
            <a:ext cx="11064240" cy="54784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3200" b="1" dirty="0" smtClean="0">
                <a:solidFill>
                  <a:srgbClr val="1B5E20"/>
                </a:solidFill>
                <a:latin typeface="Calibri"/>
              </a:rPr>
              <a:t>“</a:t>
            </a:r>
            <a:r>
              <a:rPr sz="3200" b="1" dirty="0" err="1" smtClean="0">
                <a:solidFill>
                  <a:srgbClr val="1B5E20"/>
                </a:solidFill>
                <a:latin typeface="Calibri"/>
              </a:rPr>
              <a:t>Operasi</a:t>
            </a:r>
            <a:r>
              <a:rPr sz="3200" b="1" dirty="0" smtClean="0">
                <a:solidFill>
                  <a:srgbClr val="1B5E20"/>
                </a:solidFill>
                <a:latin typeface="Calibri"/>
              </a:rPr>
              <a:t> </a:t>
            </a:r>
            <a:r>
              <a:rPr sz="3200" b="1" dirty="0" err="1" smtClean="0">
                <a:solidFill>
                  <a:srgbClr val="1B5E20"/>
                </a:solidFill>
                <a:latin typeface="Calibri"/>
              </a:rPr>
              <a:t>Terdigitalisasi</a:t>
            </a:r>
            <a:r>
              <a:rPr sz="3200" b="1" dirty="0" smtClean="0">
                <a:solidFill>
                  <a:srgbClr val="1B5E20"/>
                </a:solidFill>
                <a:latin typeface="Calibri"/>
              </a:rPr>
              <a:t>, </a:t>
            </a:r>
            <a:r>
              <a:rPr sz="3200" b="1" dirty="0" err="1" smtClean="0">
                <a:solidFill>
                  <a:srgbClr val="1B5E20"/>
                </a:solidFill>
                <a:latin typeface="Calibri"/>
              </a:rPr>
              <a:t>Bisnis</a:t>
            </a:r>
            <a:r>
              <a:rPr sz="3200" b="1" dirty="0" smtClean="0">
                <a:solidFill>
                  <a:srgbClr val="1B5E20"/>
                </a:solidFill>
                <a:latin typeface="Calibri"/>
              </a:rPr>
              <a:t> </a:t>
            </a:r>
            <a:r>
              <a:rPr sz="3200" b="1" dirty="0" err="1" smtClean="0">
                <a:solidFill>
                  <a:srgbClr val="1B5E20"/>
                </a:solidFill>
                <a:latin typeface="Calibri"/>
              </a:rPr>
              <a:t>Teroplimalisasi</a:t>
            </a:r>
            <a:r>
              <a:rPr sz="3200" b="1" dirty="0" smtClean="0">
                <a:solidFill>
                  <a:srgbClr val="1B5E20"/>
                </a:solidFill>
                <a:latin typeface="Calibri"/>
              </a:rPr>
              <a:t>”</a:t>
            </a:r>
            <a:endParaRPr sz="3200" b="1" dirty="0">
              <a:solidFill>
                <a:srgbClr val="1B5E20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106424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id-ID" sz="1600" dirty="0" smtClean="0"/>
              <a:t>Digitalisasi operasi membuat </a:t>
            </a:r>
            <a:r>
              <a:rPr lang="id-ID" sz="1600" dirty="0"/>
              <a:t>data lebih akurat, waktu lebih </a:t>
            </a:r>
            <a:r>
              <a:rPr lang="id-ID" sz="1600" dirty="0" smtClean="0"/>
              <a:t>efisien dan </a:t>
            </a:r>
            <a:r>
              <a:rPr lang="id-ID" sz="1600" dirty="0"/>
              <a:t>keandalan utilitas lebih terjaga</a:t>
            </a:r>
            <a:r>
              <a:rPr lang="id-ID" sz="1600" dirty="0" smtClean="0"/>
              <a:t>.</a:t>
            </a:r>
            <a:endParaRPr sz="1400" b="0" dirty="0"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3154680"/>
            <a:ext cx="2697480" cy="3017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554480" y="3429000"/>
            <a:ext cx="685800" cy="68580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3429000"/>
            <a:ext cx="6858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97680"/>
            <a:ext cx="242316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 dirty="0">
                <a:solidFill>
                  <a:srgbClr val="1B5E20"/>
                </a:solidFill>
                <a:latin typeface="Calibri"/>
              </a:rPr>
              <a:t>Multi-device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2331720" cy="7940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0" dirty="0">
                <a:latin typeface="Calibri"/>
              </a:rPr>
              <a:t>Desktop CCR, HP operator, HP foreman, HP </a:t>
            </a:r>
            <a:r>
              <a:rPr sz="1600" b="0" dirty="0" err="1">
                <a:latin typeface="Calibri"/>
              </a:rPr>
              <a:t>manajemen</a:t>
            </a:r>
            <a:endParaRPr sz="1600" b="0" dirty="0"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355848" y="3154680"/>
            <a:ext cx="2697480" cy="3017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361688" y="3429000"/>
            <a:ext cx="685800" cy="68580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61688" y="3429000"/>
            <a:ext cx="6858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4297680"/>
            <a:ext cx="242316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 dirty="0">
                <a:solidFill>
                  <a:srgbClr val="1B5E20"/>
                </a:solidFill>
                <a:latin typeface="Calibri"/>
              </a:rPr>
              <a:t>Real-time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38728" y="4800600"/>
            <a:ext cx="2331720" cy="54784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0" dirty="0">
                <a:latin typeface="Calibri"/>
              </a:rPr>
              <a:t>Data update </a:t>
            </a:r>
            <a:r>
              <a:rPr sz="1600" b="0" dirty="0" err="1">
                <a:latin typeface="Calibri"/>
              </a:rPr>
              <a:t>otomatis</a:t>
            </a:r>
            <a:r>
              <a:rPr sz="1600" b="0" dirty="0">
                <a:latin typeface="Calibri"/>
              </a:rPr>
              <a:t> via </a:t>
            </a:r>
            <a:r>
              <a:rPr sz="1600" dirty="0" smtClean="0">
                <a:latin typeface="Calibri"/>
              </a:rPr>
              <a:t>Database</a:t>
            </a:r>
            <a:r>
              <a:rPr sz="1600" b="0" dirty="0" smtClean="0">
                <a:latin typeface="Calibri"/>
              </a:rPr>
              <a:t> — </a:t>
            </a:r>
            <a:r>
              <a:rPr sz="1600" b="0" dirty="0" err="1">
                <a:latin typeface="Calibri"/>
              </a:rPr>
              <a:t>tanpa</a:t>
            </a:r>
            <a:r>
              <a:rPr sz="1600" b="0" dirty="0">
                <a:latin typeface="Calibri"/>
              </a:rPr>
              <a:t> refresh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3056" y="3154680"/>
            <a:ext cx="2697480" cy="3017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168896" y="3429000"/>
            <a:ext cx="685800" cy="68580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68896" y="3429000"/>
            <a:ext cx="6858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216" y="4297680"/>
            <a:ext cx="242316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 dirty="0" err="1">
                <a:solidFill>
                  <a:srgbClr val="1B5E20"/>
                </a:solidFill>
                <a:latin typeface="Calibri"/>
              </a:rPr>
              <a:t>Sudah</a:t>
            </a:r>
            <a:r>
              <a:rPr b="1" dirty="0">
                <a:solidFill>
                  <a:srgbClr val="1B5E20"/>
                </a:solidFill>
                <a:latin typeface="Calibri"/>
              </a:rPr>
              <a:t> </a:t>
            </a:r>
            <a:r>
              <a:rPr b="1" dirty="0" err="1">
                <a:solidFill>
                  <a:srgbClr val="1B5E20"/>
                </a:solidFill>
                <a:latin typeface="Calibri"/>
              </a:rPr>
              <a:t>Berjalan</a:t>
            </a:r>
            <a:endParaRPr b="1" dirty="0">
              <a:solidFill>
                <a:srgbClr val="1B5E20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45936" y="4800600"/>
            <a:ext cx="2331720" cy="7940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0" dirty="0" err="1">
                <a:latin typeface="Calibri"/>
              </a:rPr>
              <a:t>Bukan</a:t>
            </a:r>
            <a:r>
              <a:rPr sz="1600" b="0" dirty="0">
                <a:latin typeface="Calibri"/>
              </a:rPr>
              <a:t> </a:t>
            </a:r>
            <a:r>
              <a:rPr sz="1600" b="0" dirty="0" err="1">
                <a:latin typeface="Calibri"/>
              </a:rPr>
              <a:t>konsep</a:t>
            </a:r>
            <a:r>
              <a:rPr sz="1600" b="0" dirty="0">
                <a:latin typeface="Calibri"/>
              </a:rPr>
              <a:t>. </a:t>
            </a:r>
            <a:r>
              <a:rPr sz="1600" b="0" dirty="0" err="1">
                <a:latin typeface="Calibri"/>
              </a:rPr>
              <a:t>Sudah</a:t>
            </a:r>
            <a:r>
              <a:rPr sz="1600" b="0" dirty="0">
                <a:latin typeface="Calibri"/>
              </a:rPr>
              <a:t> </a:t>
            </a:r>
            <a:r>
              <a:rPr sz="1600" b="0" dirty="0" err="1">
                <a:latin typeface="Calibri"/>
              </a:rPr>
              <a:t>dipakai</a:t>
            </a:r>
            <a:r>
              <a:rPr sz="1600" b="0" dirty="0">
                <a:latin typeface="Calibri"/>
              </a:rPr>
              <a:t>, </a:t>
            </a:r>
            <a:r>
              <a:rPr sz="1600" b="0" dirty="0" err="1">
                <a:latin typeface="Calibri"/>
              </a:rPr>
              <a:t>tinggal</a:t>
            </a:r>
            <a:r>
              <a:rPr sz="1600" b="0" dirty="0">
                <a:latin typeface="Calibri"/>
              </a:rPr>
              <a:t> scale-up </a:t>
            </a:r>
            <a:r>
              <a:rPr sz="1600" b="0" dirty="0" err="1">
                <a:latin typeface="Calibri"/>
              </a:rPr>
              <a:t>adopsi</a:t>
            </a:r>
            <a:endParaRPr sz="1600" b="0" dirty="0">
              <a:latin typeface="Calibri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970264" y="3154680"/>
            <a:ext cx="2697480" cy="3017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976104" y="3429000"/>
            <a:ext cx="685800" cy="68580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976104" y="3429000"/>
            <a:ext cx="6858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07424" y="4297680"/>
            <a:ext cx="242316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 dirty="0" err="1">
                <a:solidFill>
                  <a:srgbClr val="1B5E20"/>
                </a:solidFill>
                <a:latin typeface="Calibri"/>
              </a:rPr>
              <a:t>Biaya</a:t>
            </a:r>
            <a:r>
              <a:rPr b="1" dirty="0">
                <a:solidFill>
                  <a:srgbClr val="1B5E20"/>
                </a:solidFill>
                <a:latin typeface="Calibri"/>
              </a:rPr>
              <a:t> </a:t>
            </a:r>
            <a:r>
              <a:rPr b="1" dirty="0" err="1">
                <a:solidFill>
                  <a:srgbClr val="1B5E20"/>
                </a:solidFill>
                <a:latin typeface="Calibri"/>
              </a:rPr>
              <a:t>Rendah</a:t>
            </a:r>
            <a:endParaRPr b="1" dirty="0">
              <a:solidFill>
                <a:srgbClr val="1B5E20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153144" y="4800600"/>
            <a:ext cx="2331720" cy="54784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0" dirty="0">
                <a:latin typeface="Calibri"/>
              </a:rPr>
              <a:t>In-house, stack open source, </a:t>
            </a:r>
            <a:r>
              <a:rPr sz="1600" b="0" dirty="0" err="1">
                <a:latin typeface="Calibri"/>
              </a:rPr>
              <a:t>layanan</a:t>
            </a:r>
            <a:r>
              <a:rPr sz="1600" b="0" dirty="0">
                <a:latin typeface="Calibri"/>
              </a:rPr>
              <a:t> tier </a:t>
            </a:r>
            <a:r>
              <a:rPr sz="1600" b="0" dirty="0" smtClean="0">
                <a:latin typeface="Calibri"/>
              </a:rPr>
              <a:t>gratis</a:t>
            </a:r>
            <a:endParaRPr sz="1600" b="0" dirty="0"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ardrop 2"/>
          <p:cNvSpPr/>
          <p:nvPr/>
        </p:nvSpPr>
        <p:spPr>
          <a:xfrm rot="19800000">
            <a:off x="11475720" y="228600"/>
            <a:ext cx="411480" cy="411480"/>
          </a:xfrm>
          <a:prstGeom prst="teardrop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ardrop 3"/>
          <p:cNvSpPr/>
          <p:nvPr/>
        </p:nvSpPr>
        <p:spPr>
          <a:xfrm rot="19800000">
            <a:off x="11201400" y="411480"/>
            <a:ext cx="320040" cy="320040"/>
          </a:xfrm>
          <a:prstGeom prst="teardrop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>
                <a:solidFill>
                  <a:srgbClr val="1B5E20"/>
                </a:solidFill>
                <a:latin typeface="Calibri"/>
              </a:rPr>
              <a:t>Arsitektur Solusi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256" y="827736"/>
            <a:ext cx="9601200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id-ID" sz="2400" b="1" dirty="0" smtClean="0">
                <a:latin typeface="Calibri"/>
              </a:rPr>
              <a:t>3 Lapis Sederhana: Sumber Data → Platform → Konsumen</a:t>
            </a:r>
            <a:endParaRPr lang="id-ID" sz="2400" b="1" dirty="0"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7200000" cy="4445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dirty="0">
                <a:solidFill>
                  <a:srgbClr val="5C6B63"/>
                </a:solidFill>
                <a:latin typeface="Calibri"/>
              </a:rPr>
              <a:t>4</a:t>
            </a:r>
            <a:r>
              <a:rPr sz="1000" b="0" dirty="0" smtClean="0">
                <a:solidFill>
                  <a:srgbClr val="5C6B63"/>
                </a:solidFill>
                <a:latin typeface="Calibri"/>
              </a:rPr>
              <a:t> </a:t>
            </a:r>
            <a:r>
              <a:rPr sz="1000" b="0" dirty="0">
                <a:solidFill>
                  <a:srgbClr val="5C6B63"/>
                </a:solidFill>
                <a:latin typeface="Calibri"/>
              </a:rPr>
              <a:t>/ </a:t>
            </a:r>
            <a:r>
              <a:rPr sz="1000" b="0" dirty="0" smtClean="0">
                <a:solidFill>
                  <a:srgbClr val="5C6B63"/>
                </a:solidFill>
                <a:latin typeface="Calibri"/>
              </a:rPr>
              <a:t>14</a:t>
            </a:r>
            <a:endParaRPr sz="1000" b="0" dirty="0">
              <a:solidFill>
                <a:srgbClr val="5C6B63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PowerOps  •  Inovasi Digital UBB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00200"/>
            <a:ext cx="1088136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1600200"/>
            <a:ext cx="109728" cy="14173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4400" y="1874520"/>
            <a:ext cx="822960" cy="82296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1874520"/>
            <a:ext cx="82296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1828800"/>
            <a:ext cx="932688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 dirty="0">
                <a:solidFill>
                  <a:srgbClr val="1B5E20"/>
                </a:solidFill>
                <a:latin typeface="Calibri"/>
              </a:rPr>
              <a:t>SUMBER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2377440"/>
            <a:ext cx="2231136" cy="4572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9525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20240" y="2455230"/>
            <a:ext cx="2231136" cy="301621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600" b="1" dirty="0">
                <a:solidFill>
                  <a:srgbClr val="1B5E20"/>
                </a:solidFill>
                <a:latin typeface="Calibri"/>
              </a:rPr>
              <a:t>Operator (input shift)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8536" y="2377440"/>
            <a:ext cx="2926080" cy="4572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9525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88536" y="2455230"/>
            <a:ext cx="2926080" cy="301621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600" b="1" dirty="0">
                <a:solidFill>
                  <a:srgbClr val="1B5E20"/>
                </a:solidFill>
                <a:latin typeface="Calibri"/>
              </a:rPr>
              <a:t>Foreman (critical/maintenance)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51776" y="2377440"/>
            <a:ext cx="2665476" cy="4572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9525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51776" y="2455230"/>
            <a:ext cx="2665476" cy="301621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600" b="1" dirty="0">
                <a:solidFill>
                  <a:srgbClr val="1B5E20"/>
                </a:solidFill>
                <a:latin typeface="Calibri"/>
              </a:rPr>
              <a:t>Meter/Sensor (manual entry)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154680"/>
            <a:ext cx="1088136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3154680"/>
            <a:ext cx="109728" cy="14173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14400" y="3429000"/>
            <a:ext cx="822960" cy="822960"/>
          </a:xfrm>
          <a:prstGeom prst="roundRect">
            <a:avLst>
              <a:gd name="adj" fmla="val 10000"/>
            </a:avLst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429000"/>
            <a:ext cx="82296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383280"/>
            <a:ext cx="932688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 dirty="0">
                <a:solidFill>
                  <a:srgbClr val="1B5E20"/>
                </a:solidFill>
                <a:latin typeface="Calibri"/>
              </a:rPr>
              <a:t>PLATFORM </a:t>
            </a:r>
            <a:r>
              <a:rPr sz="2000" b="1" dirty="0" err="1">
                <a:solidFill>
                  <a:srgbClr val="1B5E20"/>
                </a:solidFill>
                <a:latin typeface="Calibri"/>
              </a:rPr>
              <a:t>PowerOps</a:t>
            </a:r>
            <a:endParaRPr sz="2000" b="1" dirty="0">
              <a:solidFill>
                <a:srgbClr val="1B5E20"/>
              </a:solidFill>
              <a:latin typeface="Calibri"/>
            </a:endParaRPr>
          </a:p>
        </p:txBody>
      </p:sp>
      <p:grpSp>
        <p:nvGrpSpPr>
          <p:cNvPr id="53" name="Group 52"/>
          <p:cNvGrpSpPr/>
          <p:nvPr/>
        </p:nvGrpSpPr>
        <p:grpSpPr>
          <a:xfrm>
            <a:off x="1920240" y="3890976"/>
            <a:ext cx="1101852" cy="457200"/>
            <a:chOff x="1920240" y="3931920"/>
            <a:chExt cx="1101852" cy="457200"/>
          </a:xfrm>
        </p:grpSpPr>
        <p:sp>
          <p:nvSpPr>
            <p:cNvPr id="27" name="Rounded Rectangle 26"/>
            <p:cNvSpPr/>
            <p:nvPr/>
          </p:nvSpPr>
          <p:spPr>
            <a:xfrm>
              <a:off x="1920240" y="3931920"/>
              <a:ext cx="1101852" cy="457200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9525">
              <a:solidFill>
                <a:srgbClr val="66BB6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920240" y="4009710"/>
              <a:ext cx="1101852" cy="301621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spAutoFit/>
            </a:bodyPr>
            <a:lstStyle/>
            <a:p>
              <a:pPr algn="ctr"/>
              <a:r>
                <a:rPr sz="1600" b="1" dirty="0">
                  <a:solidFill>
                    <a:srgbClr val="1B5E20"/>
                  </a:solidFill>
                  <a:latin typeface="Calibri"/>
                </a:rPr>
                <a:t>Dashboard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3159252" y="3890976"/>
            <a:ext cx="1188719" cy="457200"/>
            <a:chOff x="3159252" y="3931920"/>
            <a:chExt cx="1188719" cy="457200"/>
          </a:xfrm>
        </p:grpSpPr>
        <p:sp>
          <p:nvSpPr>
            <p:cNvPr id="29" name="Rounded Rectangle 28"/>
            <p:cNvSpPr/>
            <p:nvPr/>
          </p:nvSpPr>
          <p:spPr>
            <a:xfrm>
              <a:off x="3159252" y="3931920"/>
              <a:ext cx="1188719" cy="457200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9525">
              <a:solidFill>
                <a:srgbClr val="66BB6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159252" y="4009710"/>
              <a:ext cx="1188719" cy="301621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spAutoFit/>
            </a:bodyPr>
            <a:lstStyle/>
            <a:p>
              <a:pPr algn="ctr"/>
              <a:r>
                <a:rPr sz="1600" b="1" dirty="0">
                  <a:solidFill>
                    <a:srgbClr val="1B5E20"/>
                  </a:solidFill>
                  <a:latin typeface="Calibri"/>
                </a:rPr>
                <a:t>Tank Level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4485131" y="3890976"/>
            <a:ext cx="1014983" cy="457200"/>
            <a:chOff x="4485131" y="3931920"/>
            <a:chExt cx="1014983" cy="457200"/>
          </a:xfrm>
        </p:grpSpPr>
        <p:sp>
          <p:nvSpPr>
            <p:cNvPr id="31" name="Rounded Rectangle 30"/>
            <p:cNvSpPr/>
            <p:nvPr/>
          </p:nvSpPr>
          <p:spPr>
            <a:xfrm>
              <a:off x="4485131" y="3931920"/>
              <a:ext cx="1014983" cy="457200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9525">
              <a:solidFill>
                <a:srgbClr val="66BB6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485131" y="4009710"/>
              <a:ext cx="1014983" cy="301621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spAutoFit/>
            </a:bodyPr>
            <a:lstStyle/>
            <a:p>
              <a:pPr algn="ctr"/>
              <a:r>
                <a:rPr sz="1600" b="1" dirty="0" err="1">
                  <a:solidFill>
                    <a:srgbClr val="1B5E20"/>
                  </a:solidFill>
                  <a:latin typeface="Calibri"/>
                </a:rPr>
                <a:t>Logsheet</a:t>
              </a:r>
              <a:endParaRPr sz="1600" b="1" dirty="0">
                <a:solidFill>
                  <a:srgbClr val="1B5E20"/>
                </a:solidFill>
                <a:latin typeface="Calibri"/>
              </a:endParaRP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5637274" y="3890976"/>
            <a:ext cx="2057400" cy="457200"/>
            <a:chOff x="5637274" y="3931920"/>
            <a:chExt cx="2057400" cy="457200"/>
          </a:xfrm>
        </p:grpSpPr>
        <p:sp>
          <p:nvSpPr>
            <p:cNvPr id="33" name="Rounded Rectangle 32"/>
            <p:cNvSpPr/>
            <p:nvPr/>
          </p:nvSpPr>
          <p:spPr>
            <a:xfrm>
              <a:off x="5637274" y="3931920"/>
              <a:ext cx="2057400" cy="457200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9525">
              <a:solidFill>
                <a:srgbClr val="66BB6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637274" y="4009710"/>
              <a:ext cx="2057400" cy="301621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spAutoFit/>
            </a:bodyPr>
            <a:lstStyle/>
            <a:p>
              <a:pPr algn="ctr"/>
              <a:r>
                <a:rPr sz="1600" b="1" dirty="0" smtClean="0">
                  <a:solidFill>
                    <a:srgbClr val="1B5E20"/>
                  </a:solidFill>
                  <a:latin typeface="Calibri"/>
                </a:rPr>
                <a:t>Critical + Maintenance</a:t>
              </a:r>
              <a:endParaRPr sz="1600" b="1" dirty="0">
                <a:solidFill>
                  <a:srgbClr val="1B5E20"/>
                </a:solidFill>
                <a:latin typeface="Calibri"/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7831834" y="3890976"/>
            <a:ext cx="928116" cy="457200"/>
            <a:chOff x="7831834" y="3931920"/>
            <a:chExt cx="928116" cy="457200"/>
          </a:xfrm>
        </p:grpSpPr>
        <p:sp>
          <p:nvSpPr>
            <p:cNvPr id="35" name="Rounded Rectangle 34"/>
            <p:cNvSpPr/>
            <p:nvPr/>
          </p:nvSpPr>
          <p:spPr>
            <a:xfrm>
              <a:off x="7831834" y="3931920"/>
              <a:ext cx="928116" cy="457200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9525">
              <a:solidFill>
                <a:srgbClr val="66BB6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831834" y="4009710"/>
              <a:ext cx="928116" cy="301621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spAutoFit/>
            </a:bodyPr>
            <a:lstStyle/>
            <a:p>
              <a:pPr algn="ctr"/>
              <a:r>
                <a:rPr sz="1600" b="1" dirty="0">
                  <a:solidFill>
                    <a:srgbClr val="1B5E20"/>
                  </a:solidFill>
                  <a:latin typeface="Calibri"/>
                </a:rPr>
                <a:t>History</a:t>
              </a:r>
            </a:p>
          </p:txBody>
        </p:sp>
      </p:grpSp>
      <p:sp>
        <p:nvSpPr>
          <p:cNvPr id="39" name="Rounded Rectangle 38"/>
          <p:cNvSpPr/>
          <p:nvPr/>
        </p:nvSpPr>
        <p:spPr>
          <a:xfrm>
            <a:off x="640080" y="4709160"/>
            <a:ext cx="1088136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40080" y="4709160"/>
            <a:ext cx="109728" cy="1417320"/>
          </a:xfrm>
          <a:prstGeom prst="rect">
            <a:avLst/>
          </a:prstGeom>
          <a:solidFill>
            <a:srgbClr val="8D6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14400" y="4983480"/>
            <a:ext cx="822960" cy="822960"/>
          </a:xfrm>
          <a:prstGeom prst="roundRect">
            <a:avLst>
              <a:gd name="adj" fmla="val 10000"/>
            </a:avLst>
          </a:prstGeom>
          <a:solidFill>
            <a:srgbClr val="8D6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4983480"/>
            <a:ext cx="82296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937760"/>
            <a:ext cx="93268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>
                <a:solidFill>
                  <a:srgbClr val="1B5E20"/>
                </a:solidFill>
                <a:latin typeface="Calibri"/>
              </a:rPr>
              <a:t>KONSUMEN DATA</a:t>
            </a:r>
          </a:p>
        </p:txBody>
      </p:sp>
      <p:grpSp>
        <p:nvGrpSpPr>
          <p:cNvPr id="60" name="Group 59"/>
          <p:cNvGrpSpPr/>
          <p:nvPr/>
        </p:nvGrpSpPr>
        <p:grpSpPr>
          <a:xfrm>
            <a:off x="1920240" y="5372840"/>
            <a:ext cx="2144268" cy="547842"/>
            <a:chOff x="1920240" y="5441080"/>
            <a:chExt cx="2144268" cy="547842"/>
          </a:xfrm>
        </p:grpSpPr>
        <p:sp>
          <p:nvSpPr>
            <p:cNvPr id="44" name="Rounded Rectangle 43"/>
            <p:cNvSpPr/>
            <p:nvPr/>
          </p:nvSpPr>
          <p:spPr>
            <a:xfrm>
              <a:off x="1920240" y="5486400"/>
              <a:ext cx="2144268" cy="457200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9525">
              <a:solidFill>
                <a:srgbClr val="66BB6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920240" y="5441080"/>
              <a:ext cx="2144268" cy="547842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spAutoFit/>
            </a:bodyPr>
            <a:lstStyle/>
            <a:p>
              <a:pPr algn="ctr"/>
              <a:r>
                <a:rPr sz="1600" b="1" dirty="0" err="1">
                  <a:solidFill>
                    <a:srgbClr val="1B5E20"/>
                  </a:solidFill>
                  <a:latin typeface="Calibri"/>
                </a:rPr>
                <a:t>Manajemen</a:t>
              </a:r>
              <a:r>
                <a:rPr sz="1600" b="1" dirty="0">
                  <a:solidFill>
                    <a:srgbClr val="1B5E20"/>
                  </a:solidFill>
                  <a:latin typeface="Calibri"/>
                </a:rPr>
                <a:t> (dashboard)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4201668" y="5418160"/>
            <a:ext cx="1709928" cy="457200"/>
            <a:chOff x="4201668" y="5486400"/>
            <a:chExt cx="1709928" cy="457200"/>
          </a:xfrm>
        </p:grpSpPr>
        <p:sp>
          <p:nvSpPr>
            <p:cNvPr id="46" name="Rounded Rectangle 45"/>
            <p:cNvSpPr/>
            <p:nvPr/>
          </p:nvSpPr>
          <p:spPr>
            <a:xfrm>
              <a:off x="4201668" y="5486400"/>
              <a:ext cx="1709928" cy="457200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9525">
              <a:solidFill>
                <a:srgbClr val="66BB6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201668" y="5564190"/>
              <a:ext cx="1709928" cy="301621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spAutoFit/>
            </a:bodyPr>
            <a:lstStyle/>
            <a:p>
              <a:pPr algn="ctr"/>
              <a:r>
                <a:rPr sz="1600" b="1" dirty="0">
                  <a:solidFill>
                    <a:srgbClr val="1B5E20"/>
                  </a:solidFill>
                  <a:latin typeface="Calibri"/>
                </a:rPr>
                <a:t>CCR (tank level)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6048756" y="5418160"/>
            <a:ext cx="3621024" cy="457200"/>
            <a:chOff x="6048756" y="5486400"/>
            <a:chExt cx="3621024" cy="457200"/>
          </a:xfrm>
        </p:grpSpPr>
        <p:sp>
          <p:nvSpPr>
            <p:cNvPr id="48" name="Rounded Rectangle 47"/>
            <p:cNvSpPr/>
            <p:nvPr/>
          </p:nvSpPr>
          <p:spPr>
            <a:xfrm>
              <a:off x="6048756" y="5486400"/>
              <a:ext cx="3621024" cy="457200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9525">
              <a:solidFill>
                <a:srgbClr val="66BB6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048756" y="5564190"/>
              <a:ext cx="3621024" cy="301621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spAutoFit/>
            </a:bodyPr>
            <a:lstStyle/>
            <a:p>
              <a:pPr algn="ctr"/>
              <a:r>
                <a:rPr sz="1600" b="1" dirty="0">
                  <a:solidFill>
                    <a:srgbClr val="1B5E20"/>
                  </a:solidFill>
                  <a:latin typeface="Calibri"/>
                </a:rPr>
                <a:t>Auto-sync Google Sheets (</a:t>
              </a:r>
              <a:r>
                <a:rPr sz="1600" b="1" dirty="0" err="1">
                  <a:solidFill>
                    <a:srgbClr val="1B5E20"/>
                  </a:solidFill>
                  <a:latin typeface="Calibri"/>
                </a:rPr>
                <a:t>laporan</a:t>
              </a:r>
              <a:r>
                <a:rPr sz="1600" b="1" dirty="0">
                  <a:solidFill>
                    <a:srgbClr val="1B5E20"/>
                  </a:solidFill>
                  <a:latin typeface="Calibri"/>
                </a:rPr>
                <a:t> lama)</a:t>
              </a:r>
            </a:p>
          </p:txBody>
        </p:sp>
      </p:grpSp>
      <p:sp>
        <p:nvSpPr>
          <p:cNvPr id="50" name="Down Arrow 49"/>
          <p:cNvSpPr/>
          <p:nvPr/>
        </p:nvSpPr>
        <p:spPr>
          <a:xfrm>
            <a:off x="5989320" y="2971800"/>
            <a:ext cx="468000" cy="432000"/>
          </a:xfrm>
          <a:prstGeom prst="downArrow">
            <a:avLst/>
          </a:prstGeom>
          <a:solidFill>
            <a:srgbClr val="66BB6A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Down Arrow 50"/>
          <p:cNvSpPr/>
          <p:nvPr/>
        </p:nvSpPr>
        <p:spPr>
          <a:xfrm>
            <a:off x="5989320" y="4526280"/>
            <a:ext cx="468000" cy="432000"/>
          </a:xfrm>
          <a:prstGeom prst="downArrow">
            <a:avLst/>
          </a:prstGeom>
          <a:solidFill>
            <a:srgbClr val="66BB6A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080" y="6232248"/>
            <a:ext cx="10881360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1" dirty="0" err="1">
                <a:latin typeface="Calibri"/>
              </a:rPr>
              <a:t>Kompatibilitas</a:t>
            </a:r>
            <a:r>
              <a:rPr sz="1200" b="1" dirty="0">
                <a:latin typeface="Calibri"/>
              </a:rPr>
              <a:t>: </a:t>
            </a:r>
            <a:r>
              <a:rPr sz="1200" b="1" dirty="0" err="1">
                <a:latin typeface="Calibri"/>
              </a:rPr>
              <a:t>laporan</a:t>
            </a:r>
            <a:r>
              <a:rPr sz="1200" b="1" dirty="0">
                <a:latin typeface="Calibri"/>
              </a:rPr>
              <a:t> Google Sheets lama </a:t>
            </a:r>
            <a:r>
              <a:rPr sz="1200" b="1" dirty="0" err="1">
                <a:latin typeface="Calibri"/>
              </a:rPr>
              <a:t>tetap</a:t>
            </a:r>
            <a:r>
              <a:rPr sz="1200" b="1" dirty="0">
                <a:latin typeface="Calibri"/>
              </a:rPr>
              <a:t> </a:t>
            </a:r>
            <a:r>
              <a:rPr sz="1200" b="1" dirty="0" err="1">
                <a:latin typeface="Calibri"/>
              </a:rPr>
              <a:t>berjalan</a:t>
            </a:r>
            <a:r>
              <a:rPr sz="1200" b="1" dirty="0">
                <a:latin typeface="Calibri"/>
              </a:rPr>
              <a:t> </a:t>
            </a:r>
            <a:r>
              <a:rPr sz="1200" b="1" dirty="0" err="1" smtClean="0">
                <a:latin typeface="Calibri"/>
              </a:rPr>
              <a:t>paralel</a:t>
            </a:r>
            <a:endParaRPr sz="1200" b="1" dirty="0"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ardrop 2"/>
          <p:cNvSpPr/>
          <p:nvPr/>
        </p:nvSpPr>
        <p:spPr>
          <a:xfrm rot="19800000">
            <a:off x="11475720" y="228600"/>
            <a:ext cx="411480" cy="411480"/>
          </a:xfrm>
          <a:prstGeom prst="teardrop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ardrop 3"/>
          <p:cNvSpPr/>
          <p:nvPr/>
        </p:nvSpPr>
        <p:spPr>
          <a:xfrm rot="19800000">
            <a:off x="11201400" y="411480"/>
            <a:ext cx="320040" cy="320040"/>
          </a:xfrm>
          <a:prstGeom prst="teardrop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>
                <a:solidFill>
                  <a:srgbClr val="1B5E20"/>
                </a:solidFill>
                <a:latin typeface="Calibri"/>
              </a:rPr>
              <a:t>Fitur 1 — Dashboard Parameter Aktual UBB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60120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dirty="0" err="1">
                <a:latin typeface="Calibri"/>
              </a:rPr>
              <a:t>Halaman</a:t>
            </a:r>
            <a:r>
              <a:rPr sz="1400" b="0" dirty="0">
                <a:latin typeface="Calibri"/>
              </a:rPr>
              <a:t>: /dashboard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097280" cy="4445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dirty="0">
                <a:solidFill>
                  <a:srgbClr val="5C6B63"/>
                </a:solidFill>
                <a:latin typeface="Calibri"/>
              </a:rPr>
              <a:t>5</a:t>
            </a:r>
            <a:r>
              <a:rPr sz="1000" b="0" dirty="0" smtClean="0">
                <a:solidFill>
                  <a:srgbClr val="5C6B63"/>
                </a:solidFill>
                <a:latin typeface="Calibri"/>
              </a:rPr>
              <a:t> </a:t>
            </a:r>
            <a:r>
              <a:rPr sz="1000" b="0" dirty="0">
                <a:solidFill>
                  <a:srgbClr val="5C6B63"/>
                </a:solidFill>
                <a:latin typeface="Calibri"/>
              </a:rPr>
              <a:t>/ </a:t>
            </a:r>
            <a:r>
              <a:rPr sz="1000" b="0" dirty="0" smtClean="0">
                <a:solidFill>
                  <a:srgbClr val="5C6B63"/>
                </a:solidFill>
                <a:latin typeface="Calibri"/>
              </a:rPr>
              <a:t>14</a:t>
            </a:r>
            <a:endParaRPr sz="1000" b="0" dirty="0">
              <a:solidFill>
                <a:srgbClr val="5C6B63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PowerOps  •  Inovasi Digital UBB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600200"/>
            <a:ext cx="5943600" cy="34221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737360"/>
            <a:ext cx="5669280" cy="32004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" y="1801368"/>
            <a:ext cx="155448" cy="155448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5840" y="1801368"/>
            <a:ext cx="155448" cy="155448"/>
          </a:xfrm>
          <a:prstGeom prst="roundRect">
            <a:avLst>
              <a:gd name="adj" fmla="val 10000"/>
            </a:avLst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207008" y="1801368"/>
            <a:ext cx="155448" cy="155448"/>
          </a:xfrm>
          <a:prstGeom prst="roundRect">
            <a:avLst>
              <a:gd name="adj" fmla="val 10000"/>
            </a:avLst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63040" y="1773936"/>
            <a:ext cx="484632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id-ID" sz="1000" dirty="0">
                <a:solidFill>
                  <a:srgbClr val="5C6B63"/>
                </a:solidFill>
              </a:rPr>
              <a:t>https://utilitas.vercel.app/dashboard</a:t>
            </a:r>
            <a:endParaRPr sz="1000" b="0" dirty="0">
              <a:solidFill>
                <a:srgbClr val="5C6B63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675120" y="1600200"/>
            <a:ext cx="4937760" cy="34221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9440" y="1783080"/>
            <a:ext cx="43891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dirty="0" err="1">
                <a:solidFill>
                  <a:srgbClr val="1B5E20"/>
                </a:solidFill>
                <a:latin typeface="Calibri"/>
              </a:rPr>
              <a:t>Kemampuan</a:t>
            </a:r>
            <a:r>
              <a:rPr sz="1600" b="1" dirty="0">
                <a:solidFill>
                  <a:srgbClr val="1B5E20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B5E20"/>
                </a:solidFill>
                <a:latin typeface="Calibri"/>
              </a:rPr>
              <a:t>Utama</a:t>
            </a:r>
            <a:endParaRPr sz="1600" b="1" dirty="0">
              <a:solidFill>
                <a:srgbClr val="1B5E20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017680" y="2122088"/>
            <a:ext cx="1656000" cy="3175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0" y="2136552"/>
            <a:ext cx="4389120" cy="266784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dirty="0">
                <a:latin typeface="Calibri"/>
              </a:rPr>
              <a:t>●  Boiler A &amp; B: </a:t>
            </a:r>
            <a:r>
              <a:rPr sz="1500" dirty="0">
                <a:latin typeface="Calibri"/>
              </a:rPr>
              <a:t>steam flow, furnace temp, </a:t>
            </a:r>
            <a:r>
              <a:rPr sz="1500" dirty="0" smtClean="0">
                <a:latin typeface="Calibri"/>
              </a:rPr>
              <a:t>vacuum</a:t>
            </a:r>
            <a:r>
              <a:rPr sz="1500" dirty="0">
                <a:latin typeface="Calibri"/>
              </a:rPr>
              <a:t>, O2, coal feeder (3 feeder)</a:t>
            </a:r>
          </a:p>
          <a:p>
            <a:pPr algn="l">
              <a:lnSpc>
                <a:spcPct val="125000"/>
              </a:lnSpc>
            </a:pPr>
            <a:r>
              <a:rPr sz="1500" b="1" dirty="0">
                <a:latin typeface="Calibri"/>
              </a:rPr>
              <a:t>●  STG: </a:t>
            </a:r>
            <a:r>
              <a:rPr sz="1500" dirty="0">
                <a:latin typeface="Calibri"/>
              </a:rPr>
              <a:t>load MW, frequency, steam inlet/condensate, </a:t>
            </a:r>
            <a:r>
              <a:rPr sz="1500" dirty="0" smtClean="0">
                <a:latin typeface="Calibri"/>
              </a:rPr>
              <a:t>vacuum</a:t>
            </a:r>
            <a:r>
              <a:rPr sz="1500" dirty="0">
                <a:latin typeface="Calibri"/>
              </a:rPr>
              <a:t>, thrust bearing</a:t>
            </a:r>
          </a:p>
          <a:p>
            <a:pPr algn="l">
              <a:lnSpc>
                <a:spcPct val="125000"/>
              </a:lnSpc>
            </a:pPr>
            <a:r>
              <a:rPr sz="1500" b="1" dirty="0">
                <a:latin typeface="Calibri"/>
              </a:rPr>
              <a:t>●  </a:t>
            </a:r>
            <a:r>
              <a:rPr sz="1500" b="1" dirty="0" err="1">
                <a:latin typeface="Calibri"/>
              </a:rPr>
              <a:t>Distribusi</a:t>
            </a:r>
            <a:r>
              <a:rPr sz="1500" b="1" dirty="0">
                <a:latin typeface="Calibri"/>
              </a:rPr>
              <a:t> steam: </a:t>
            </a:r>
            <a:r>
              <a:rPr sz="1500" dirty="0" err="1">
                <a:latin typeface="Calibri"/>
              </a:rPr>
              <a:t>pabrik</a:t>
            </a:r>
            <a:r>
              <a:rPr sz="1500" dirty="0">
                <a:latin typeface="Calibri"/>
              </a:rPr>
              <a:t> 1, </a:t>
            </a:r>
            <a:r>
              <a:rPr sz="1500" dirty="0" err="1">
                <a:latin typeface="Calibri"/>
              </a:rPr>
              <a:t>pabrik</a:t>
            </a:r>
            <a:r>
              <a:rPr sz="1500" dirty="0">
                <a:latin typeface="Calibri"/>
              </a:rPr>
              <a:t> 3, inlet </a:t>
            </a:r>
            <a:r>
              <a:rPr sz="1500" dirty="0" err="1">
                <a:latin typeface="Calibri"/>
              </a:rPr>
              <a:t>turbin</a:t>
            </a:r>
            <a:endParaRPr sz="1500" dirty="0"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1500" b="1" dirty="0">
                <a:latin typeface="Calibri"/>
              </a:rPr>
              <a:t>●  Quick stats: </a:t>
            </a:r>
            <a:r>
              <a:rPr sz="1500" dirty="0">
                <a:latin typeface="Calibri"/>
              </a:rPr>
              <a:t>total steam, total coal, trending indicator</a:t>
            </a:r>
          </a:p>
          <a:p>
            <a:pPr algn="l">
              <a:lnSpc>
                <a:spcPct val="125000"/>
              </a:lnSpc>
            </a:pPr>
            <a:r>
              <a:rPr sz="1500" b="1" dirty="0">
                <a:latin typeface="Calibri"/>
              </a:rPr>
              <a:t>●  </a:t>
            </a:r>
            <a:r>
              <a:rPr sz="1500" b="1" dirty="0" err="1">
                <a:latin typeface="Calibri"/>
              </a:rPr>
              <a:t>Kartu</a:t>
            </a:r>
            <a:r>
              <a:rPr sz="1500" b="1" dirty="0">
                <a:latin typeface="Calibri"/>
              </a:rPr>
              <a:t> visual: </a:t>
            </a:r>
            <a:r>
              <a:rPr sz="1500" dirty="0" err="1">
                <a:latin typeface="Calibri"/>
              </a:rPr>
              <a:t>angka</a:t>
            </a:r>
            <a:r>
              <a:rPr sz="1500" dirty="0">
                <a:latin typeface="Calibri"/>
              </a:rPr>
              <a:t> </a:t>
            </a:r>
            <a:r>
              <a:rPr sz="1500" dirty="0" err="1">
                <a:latin typeface="Calibri"/>
              </a:rPr>
              <a:t>besar</a:t>
            </a:r>
            <a:r>
              <a:rPr sz="1500" dirty="0">
                <a:latin typeface="Calibri"/>
              </a:rPr>
              <a:t>, gauge, status </a:t>
            </a:r>
            <a:r>
              <a:rPr sz="1500" dirty="0" err="1">
                <a:latin typeface="Calibri"/>
              </a:rPr>
              <a:t>warna</a:t>
            </a:r>
            <a:endParaRPr sz="1500" dirty="0"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1500" b="1" dirty="0">
                <a:latin typeface="Calibri"/>
              </a:rPr>
              <a:t>●  Real-time: </a:t>
            </a:r>
            <a:r>
              <a:rPr sz="1500" dirty="0">
                <a:latin typeface="Calibri"/>
              </a:rPr>
              <a:t>update </a:t>
            </a:r>
            <a:r>
              <a:rPr sz="1500" dirty="0" err="1">
                <a:latin typeface="Calibri"/>
              </a:rPr>
              <a:t>otomatis</a:t>
            </a:r>
            <a:r>
              <a:rPr sz="1500" dirty="0">
                <a:latin typeface="Calibri"/>
              </a:rPr>
              <a:t> </a:t>
            </a:r>
            <a:r>
              <a:rPr sz="1500" dirty="0" err="1">
                <a:latin typeface="Calibri"/>
              </a:rPr>
              <a:t>tanpa</a:t>
            </a:r>
            <a:r>
              <a:rPr sz="1500" dirty="0">
                <a:latin typeface="Calibri"/>
              </a:rPr>
              <a:t> refresh manual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70083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5422997"/>
            <a:ext cx="11064240" cy="33239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  <a:latin typeface="Calibri"/>
              </a:rPr>
              <a:t>✓  </a:t>
            </a:r>
            <a:r>
              <a:rPr b="1" dirty="0" err="1">
                <a:solidFill>
                  <a:srgbClr val="FFFFFF"/>
                </a:solidFill>
                <a:latin typeface="Calibri"/>
              </a:rPr>
              <a:t>Menjawab</a:t>
            </a:r>
            <a:r>
              <a:rPr b="1" dirty="0">
                <a:solidFill>
                  <a:srgbClr val="FFFFFF"/>
                </a:solidFill>
                <a:latin typeface="Calibri"/>
              </a:rPr>
              <a:t> </a:t>
            </a:r>
            <a:r>
              <a:rPr b="1" dirty="0" err="1">
                <a:solidFill>
                  <a:srgbClr val="FFFFFF"/>
                </a:solidFill>
                <a:latin typeface="Calibri"/>
              </a:rPr>
              <a:t>Masalah</a:t>
            </a:r>
            <a:r>
              <a:rPr b="1" dirty="0">
                <a:solidFill>
                  <a:srgbClr val="FFFFFF"/>
                </a:solidFill>
                <a:latin typeface="Calibri"/>
              </a:rPr>
              <a:t> #1: </a:t>
            </a:r>
            <a:r>
              <a:rPr b="1" dirty="0" err="1">
                <a:solidFill>
                  <a:srgbClr val="FFFFFF"/>
                </a:solidFill>
                <a:latin typeface="Calibri"/>
              </a:rPr>
              <a:t>Manajemen</a:t>
            </a:r>
            <a:r>
              <a:rPr b="1" dirty="0">
                <a:solidFill>
                  <a:srgbClr val="FFFFFF"/>
                </a:solidFill>
                <a:latin typeface="Calibri"/>
              </a:rPr>
              <a:t> &amp; CCR </a:t>
            </a:r>
            <a:r>
              <a:rPr b="1" dirty="0" err="1">
                <a:solidFill>
                  <a:srgbClr val="FFFFFF"/>
                </a:solidFill>
                <a:latin typeface="Calibri"/>
              </a:rPr>
              <a:t>kini</a:t>
            </a:r>
            <a:r>
              <a:rPr b="1" dirty="0">
                <a:solidFill>
                  <a:srgbClr val="FFFFFF"/>
                </a:solidFill>
                <a:latin typeface="Calibri"/>
              </a:rPr>
              <a:t> </a:t>
            </a:r>
            <a:r>
              <a:rPr b="1" dirty="0" err="1">
                <a:solidFill>
                  <a:srgbClr val="FFFFFF"/>
                </a:solidFill>
                <a:latin typeface="Calibri"/>
              </a:rPr>
              <a:t>punya</a:t>
            </a:r>
            <a:r>
              <a:rPr b="1" dirty="0">
                <a:solidFill>
                  <a:srgbClr val="FFFFFF"/>
                </a:solidFill>
                <a:latin typeface="Calibri"/>
              </a:rPr>
              <a:t> single source of truth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" y="2267712"/>
            <a:ext cx="5699760" cy="25160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ardrop 2"/>
          <p:cNvSpPr/>
          <p:nvPr/>
        </p:nvSpPr>
        <p:spPr>
          <a:xfrm rot="19800000">
            <a:off x="11475720" y="228600"/>
            <a:ext cx="411480" cy="411480"/>
          </a:xfrm>
          <a:prstGeom prst="teardrop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ardrop 3"/>
          <p:cNvSpPr/>
          <p:nvPr/>
        </p:nvSpPr>
        <p:spPr>
          <a:xfrm rot="19800000">
            <a:off x="11201400" y="411480"/>
            <a:ext cx="320040" cy="320040"/>
          </a:xfrm>
          <a:prstGeom prst="teardrop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601200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en-US" sz="2800" b="1" dirty="0" err="1">
                <a:solidFill>
                  <a:srgbClr val="1B5E20"/>
                </a:solidFill>
              </a:rPr>
              <a:t>Fitur</a:t>
            </a:r>
            <a:r>
              <a:rPr lang="en-US" sz="2800" b="1" dirty="0">
                <a:solidFill>
                  <a:srgbClr val="1B5E20"/>
                </a:solidFill>
              </a:rPr>
              <a:t> 2 — Monitoring Level </a:t>
            </a:r>
            <a:r>
              <a:rPr lang="en-US" sz="2800" b="1" dirty="0" err="1">
                <a:solidFill>
                  <a:srgbClr val="1B5E20"/>
                </a:solidFill>
              </a:rPr>
              <a:t>Tanki</a:t>
            </a:r>
            <a:r>
              <a:rPr lang="en-US" sz="2800" b="1" dirty="0">
                <a:solidFill>
                  <a:srgbClr val="1B5E20"/>
                </a:solidFill>
              </a:rPr>
              <a:t> (CCR)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60120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id-ID" sz="1400" dirty="0" smtClean="0"/>
              <a:t>Halaman: /tank-level</a:t>
            </a:r>
            <a:endParaRPr lang="id-ID" sz="1400" dirty="0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097280" cy="4445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dirty="0">
                <a:solidFill>
                  <a:srgbClr val="5C6B63"/>
                </a:solidFill>
                <a:latin typeface="Calibri"/>
              </a:rPr>
              <a:t>6 / </a:t>
            </a:r>
            <a:r>
              <a:rPr sz="1000" b="0" dirty="0" smtClean="0">
                <a:solidFill>
                  <a:srgbClr val="5C6B63"/>
                </a:solidFill>
                <a:latin typeface="Calibri"/>
              </a:rPr>
              <a:t>14</a:t>
            </a:r>
            <a:endParaRPr sz="1000" b="0" dirty="0">
              <a:solidFill>
                <a:srgbClr val="5C6B63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PowerOps  •  Inovasi Digital UBB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600200"/>
            <a:ext cx="5943600" cy="34221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737360"/>
            <a:ext cx="5669280" cy="32004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" y="1801368"/>
            <a:ext cx="155448" cy="155448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5840" y="1801368"/>
            <a:ext cx="155448" cy="155448"/>
          </a:xfrm>
          <a:prstGeom prst="roundRect">
            <a:avLst>
              <a:gd name="adj" fmla="val 10000"/>
            </a:avLst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207008" y="1801368"/>
            <a:ext cx="155448" cy="155448"/>
          </a:xfrm>
          <a:prstGeom prst="roundRect">
            <a:avLst>
              <a:gd name="adj" fmla="val 10000"/>
            </a:avLst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63040" y="1773936"/>
            <a:ext cx="484632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id-ID" sz="1000" dirty="0">
                <a:solidFill>
                  <a:srgbClr val="5C6B63"/>
                </a:solidFill>
              </a:rPr>
              <a:t>https://utilitas.vercel.app/tank-level</a:t>
            </a:r>
            <a:endParaRPr sz="1000" b="0" dirty="0">
              <a:solidFill>
                <a:srgbClr val="5C6B63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675120" y="1600200"/>
            <a:ext cx="4937760" cy="34221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9440" y="1783080"/>
            <a:ext cx="43891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dirty="0" err="1">
                <a:solidFill>
                  <a:srgbClr val="1B5E20"/>
                </a:solidFill>
                <a:latin typeface="Calibri"/>
              </a:rPr>
              <a:t>Kemampuan</a:t>
            </a:r>
            <a:r>
              <a:rPr sz="1600" b="1" dirty="0">
                <a:solidFill>
                  <a:srgbClr val="1B5E20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B5E20"/>
                </a:solidFill>
                <a:latin typeface="Calibri"/>
              </a:rPr>
              <a:t>Utama</a:t>
            </a:r>
            <a:endParaRPr sz="1600" b="1" dirty="0">
              <a:solidFill>
                <a:srgbClr val="1B5E20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017680" y="2122088"/>
            <a:ext cx="1656000" cy="3175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0" y="2136552"/>
            <a:ext cx="4389120" cy="266784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lvl="0">
              <a:lnSpc>
                <a:spcPct val="125000"/>
              </a:lnSpc>
            </a:pPr>
            <a:r>
              <a:rPr lang="id-ID" sz="1300" b="1" dirty="0"/>
              <a:t>●  Visual glass tank: </a:t>
            </a:r>
            <a:r>
              <a:rPr lang="id-ID" sz="1300" dirty="0"/>
              <a:t>DEMIN (1.250 m³), RCW (4.600 m³), SOLAR (2×200 m³)</a:t>
            </a:r>
          </a:p>
          <a:p>
            <a:pPr lvl="0">
              <a:lnSpc>
                <a:spcPct val="125000"/>
              </a:lnSpc>
            </a:pPr>
            <a:r>
              <a:rPr lang="id-ID" sz="1300" b="1" dirty="0"/>
              <a:t>●  Status warna: </a:t>
            </a:r>
            <a:r>
              <a:rPr lang="id-ID" sz="1300" dirty="0"/>
              <a:t>Normal (hijau), Warning (kuning), Kritis (merah)</a:t>
            </a:r>
          </a:p>
          <a:p>
            <a:pPr lvl="0">
              <a:lnSpc>
                <a:spcPct val="125000"/>
              </a:lnSpc>
            </a:pPr>
            <a:r>
              <a:rPr lang="id-ID" sz="1300" b="1" dirty="0"/>
              <a:t>●  Flow in/out real-time: </a:t>
            </a:r>
            <a:r>
              <a:rPr lang="id-ID" sz="1300" dirty="0"/>
              <a:t>t/h ke/dari masing-masing sumber/tujuan</a:t>
            </a:r>
          </a:p>
          <a:p>
            <a:pPr lvl="0">
              <a:lnSpc>
                <a:spcPct val="125000"/>
              </a:lnSpc>
            </a:pPr>
            <a:r>
              <a:rPr lang="id-ID" sz="1300" b="1" dirty="0"/>
              <a:t>●  Trend history: </a:t>
            </a:r>
            <a:r>
              <a:rPr lang="id-ID" sz="1300" dirty="0"/>
              <a:t>24 data point terakhir dalam line chart</a:t>
            </a:r>
          </a:p>
          <a:p>
            <a:pPr lvl="0">
              <a:lnSpc>
                <a:spcPct val="125000"/>
              </a:lnSpc>
            </a:pPr>
            <a:r>
              <a:rPr lang="id-ID" sz="1300" b="1" dirty="0"/>
              <a:t>●  Tracking pompa: </a:t>
            </a:r>
            <a:r>
              <a:rPr lang="id-ID" sz="1300" dirty="0"/>
              <a:t>“Aktif sejak [tanggal jam]” untuk Demin Revamp</a:t>
            </a:r>
          </a:p>
          <a:p>
            <a:pPr lvl="0">
              <a:lnSpc>
                <a:spcPct val="125000"/>
              </a:lnSpc>
            </a:pPr>
            <a:r>
              <a:rPr lang="id-ID" sz="1300" b="1" dirty="0"/>
              <a:t>●  </a:t>
            </a:r>
            <a:r>
              <a:rPr lang="id-ID" sz="1300" b="1" dirty="0" smtClean="0"/>
              <a:t>Database: </a:t>
            </a:r>
            <a:r>
              <a:rPr lang="id-ID" sz="1300" dirty="0"/>
              <a:t>level berubah → UI otomatis update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70083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5422997"/>
            <a:ext cx="11064240" cy="33239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lang="id-ID" b="1" dirty="0" smtClean="0">
                <a:solidFill>
                  <a:srgbClr val="FFFFFF"/>
                </a:solidFill>
              </a:rPr>
              <a:t>✓  Menjawab Masalah #2: CCR Tidak Perlu Menghubungi Operator Handling Lagi Tiap 2 Jam</a:t>
            </a:r>
            <a:endParaRPr lang="id-ID" b="1" dirty="0">
              <a:solidFill>
                <a:srgbClr val="FFFFFF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91"/>
          <a:stretch/>
        </p:blipFill>
        <p:spPr>
          <a:xfrm>
            <a:off x="679604" y="2204523"/>
            <a:ext cx="5681672" cy="250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054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ardrop 2"/>
          <p:cNvSpPr/>
          <p:nvPr/>
        </p:nvSpPr>
        <p:spPr>
          <a:xfrm rot="19800000">
            <a:off x="11475720" y="228600"/>
            <a:ext cx="411480" cy="411480"/>
          </a:xfrm>
          <a:prstGeom prst="teardrop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ardrop 3"/>
          <p:cNvSpPr/>
          <p:nvPr/>
        </p:nvSpPr>
        <p:spPr>
          <a:xfrm rot="19800000">
            <a:off x="11201400" y="411480"/>
            <a:ext cx="320040" cy="320040"/>
          </a:xfrm>
          <a:prstGeom prst="teardrop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601200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en-US" sz="2800" b="1" dirty="0" err="1">
                <a:solidFill>
                  <a:srgbClr val="1B5E20"/>
                </a:solidFill>
              </a:rPr>
              <a:t>Fitur</a:t>
            </a:r>
            <a:r>
              <a:rPr lang="en-US" sz="2800" b="1" dirty="0">
                <a:solidFill>
                  <a:srgbClr val="1B5E20"/>
                </a:solidFill>
              </a:rPr>
              <a:t> </a:t>
            </a:r>
            <a:r>
              <a:rPr lang="id-ID" sz="2800" b="1" dirty="0" smtClean="0">
                <a:solidFill>
                  <a:srgbClr val="1B5E20"/>
                </a:solidFill>
              </a:rPr>
              <a:t>3</a:t>
            </a:r>
            <a:r>
              <a:rPr lang="en-US" sz="2800" b="1" dirty="0" smtClean="0">
                <a:solidFill>
                  <a:srgbClr val="1B5E20"/>
                </a:solidFill>
              </a:rPr>
              <a:t> </a:t>
            </a:r>
            <a:r>
              <a:rPr lang="en-US" sz="2800" b="1" dirty="0">
                <a:solidFill>
                  <a:srgbClr val="1B5E20"/>
                </a:solidFill>
              </a:rPr>
              <a:t>— </a:t>
            </a:r>
            <a:r>
              <a:rPr lang="en-US" sz="2800" b="1" dirty="0" err="1">
                <a:solidFill>
                  <a:srgbClr val="1B5E20"/>
                </a:solidFill>
              </a:rPr>
              <a:t>Logsheet</a:t>
            </a:r>
            <a:r>
              <a:rPr lang="en-US" sz="2800" b="1" dirty="0">
                <a:solidFill>
                  <a:srgbClr val="1B5E20"/>
                </a:solidFill>
              </a:rPr>
              <a:t> Digital per Shift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60120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id-ID" sz="1400" dirty="0"/>
              <a:t>Halaman: /input-shift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097280" cy="4445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dirty="0">
                <a:solidFill>
                  <a:srgbClr val="5C6B63"/>
                </a:solidFill>
                <a:latin typeface="Calibri"/>
              </a:rPr>
              <a:t>7</a:t>
            </a:r>
            <a:r>
              <a:rPr sz="1000" b="0" dirty="0" smtClean="0">
                <a:solidFill>
                  <a:srgbClr val="5C6B63"/>
                </a:solidFill>
                <a:latin typeface="Calibri"/>
              </a:rPr>
              <a:t> </a:t>
            </a:r>
            <a:r>
              <a:rPr sz="1000" b="0" dirty="0">
                <a:solidFill>
                  <a:srgbClr val="5C6B63"/>
                </a:solidFill>
                <a:latin typeface="Calibri"/>
              </a:rPr>
              <a:t>/ </a:t>
            </a:r>
            <a:r>
              <a:rPr sz="1000" b="0" dirty="0" smtClean="0">
                <a:solidFill>
                  <a:srgbClr val="5C6B63"/>
                </a:solidFill>
                <a:latin typeface="Calibri"/>
              </a:rPr>
              <a:t>14</a:t>
            </a:r>
            <a:endParaRPr sz="1000" b="0" dirty="0">
              <a:solidFill>
                <a:srgbClr val="5C6B63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PowerOps  •  Inovasi Digital UBB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600200"/>
            <a:ext cx="5943600" cy="34221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737360"/>
            <a:ext cx="5669280" cy="32004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" y="1801368"/>
            <a:ext cx="155448" cy="155448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5840" y="1801368"/>
            <a:ext cx="155448" cy="155448"/>
          </a:xfrm>
          <a:prstGeom prst="roundRect">
            <a:avLst>
              <a:gd name="adj" fmla="val 10000"/>
            </a:avLst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207008" y="1801368"/>
            <a:ext cx="155448" cy="155448"/>
          </a:xfrm>
          <a:prstGeom prst="roundRect">
            <a:avLst>
              <a:gd name="adj" fmla="val 10000"/>
            </a:avLst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63040" y="1773936"/>
            <a:ext cx="484632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id-ID" sz="1000" dirty="0">
                <a:solidFill>
                  <a:srgbClr val="5C6B63"/>
                </a:solidFill>
              </a:rPr>
              <a:t>https://utilitas.vercel.app/input-shift</a:t>
            </a:r>
            <a:endParaRPr sz="1000" b="0" dirty="0">
              <a:solidFill>
                <a:srgbClr val="5C6B63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675120" y="1600200"/>
            <a:ext cx="4937760" cy="34221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9440" y="1783080"/>
            <a:ext cx="43891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dirty="0" err="1">
                <a:solidFill>
                  <a:srgbClr val="1B5E20"/>
                </a:solidFill>
                <a:latin typeface="Calibri"/>
              </a:rPr>
              <a:t>Kemampuan</a:t>
            </a:r>
            <a:r>
              <a:rPr sz="1600" b="1" dirty="0">
                <a:solidFill>
                  <a:srgbClr val="1B5E20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B5E20"/>
                </a:solidFill>
                <a:latin typeface="Calibri"/>
              </a:rPr>
              <a:t>Utama</a:t>
            </a:r>
            <a:endParaRPr sz="1600" b="1" dirty="0">
              <a:solidFill>
                <a:srgbClr val="1B5E20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017680" y="2122088"/>
            <a:ext cx="1656000" cy="3175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0" y="2136552"/>
            <a:ext cx="4389120" cy="278537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lvl="0">
              <a:lnSpc>
                <a:spcPct val="125000"/>
              </a:lnSpc>
            </a:pPr>
            <a:r>
              <a:rPr lang="id-ID" sz="1400" b="1" dirty="0"/>
              <a:t>●  3 shift: </a:t>
            </a:r>
            <a:r>
              <a:rPr lang="id-ID" sz="1400" dirty="0"/>
              <a:t>Malam 06:00  •  Pagi 14:00  •  Sore 22:00</a:t>
            </a:r>
          </a:p>
          <a:p>
            <a:pPr lvl="0">
              <a:lnSpc>
                <a:spcPct val="125000"/>
              </a:lnSpc>
            </a:pPr>
            <a:r>
              <a:rPr lang="id-ID" sz="1400" b="1" dirty="0"/>
              <a:t>●  9 tab: </a:t>
            </a:r>
            <a:r>
              <a:rPr lang="id-ID" sz="1400" dirty="0"/>
              <a:t>Boiler A/B, Turbin, Generator, Distribusi Steam, Handling, ESP, Coal Bunker, Lab/QC</a:t>
            </a:r>
          </a:p>
          <a:p>
            <a:pPr lvl="0">
              <a:lnSpc>
                <a:spcPct val="125000"/>
              </a:lnSpc>
            </a:pPr>
            <a:r>
              <a:rPr lang="id-ID" sz="1400" b="1" dirty="0"/>
              <a:t>●  40+ parameter: </a:t>
            </a:r>
            <a:r>
              <a:rPr lang="id-ID" sz="1400" dirty="0"/>
              <a:t>tercatat terstruktur per shift</a:t>
            </a:r>
          </a:p>
          <a:p>
            <a:pPr lvl="0">
              <a:lnSpc>
                <a:spcPct val="125000"/>
              </a:lnSpc>
            </a:pPr>
            <a:r>
              <a:rPr lang="id-ID" sz="1400" b="1" dirty="0"/>
              <a:t>●  Auto-calculation: </a:t>
            </a:r>
            <a:r>
              <a:rPr lang="id-ID" sz="1400" dirty="0"/>
              <a:t>CR, selisih totalizer, konsumsi batubara/steam</a:t>
            </a:r>
          </a:p>
          <a:p>
            <a:pPr lvl="0">
              <a:lnSpc>
                <a:spcPct val="125000"/>
              </a:lnSpc>
            </a:pPr>
            <a:r>
              <a:rPr lang="id-ID" sz="1400" b="1" dirty="0"/>
              <a:t>●  Unloading fly ash (tab ESP): </a:t>
            </a:r>
            <a:r>
              <a:rPr lang="id-ID" sz="1400" dirty="0"/>
              <a:t>silo A/B, supplier, tujuan, ritase</a:t>
            </a:r>
          </a:p>
          <a:p>
            <a:pPr lvl="0">
              <a:lnSpc>
                <a:spcPct val="125000"/>
              </a:lnSpc>
            </a:pPr>
            <a:r>
              <a:rPr lang="id-ID" sz="1400" b="1" dirty="0"/>
              <a:t>●  Auto-sync Google Sheets: </a:t>
            </a:r>
            <a:r>
              <a:rPr lang="id-ID" sz="1400" dirty="0"/>
              <a:t>laporan lama tetap dapat diakses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70083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5422997"/>
            <a:ext cx="11064240" cy="33239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lang="id-ID" b="1" dirty="0">
                <a:solidFill>
                  <a:srgbClr val="FFFFFF"/>
                </a:solidFill>
              </a:rPr>
              <a:t>✓  Menjawab Masalah #3: Tidak ada lagi double input &amp; hitung manual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71"/>
          <a:stretch/>
        </p:blipFill>
        <p:spPr>
          <a:xfrm>
            <a:off x="716665" y="2196470"/>
            <a:ext cx="5607550" cy="2481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590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ardrop 2"/>
          <p:cNvSpPr/>
          <p:nvPr/>
        </p:nvSpPr>
        <p:spPr>
          <a:xfrm rot="19800000">
            <a:off x="11475720" y="228600"/>
            <a:ext cx="411480" cy="411480"/>
          </a:xfrm>
          <a:prstGeom prst="teardrop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ardrop 3"/>
          <p:cNvSpPr/>
          <p:nvPr/>
        </p:nvSpPr>
        <p:spPr>
          <a:xfrm rot="19800000">
            <a:off x="11201400" y="411480"/>
            <a:ext cx="320040" cy="320040"/>
          </a:xfrm>
          <a:prstGeom prst="teardrop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601200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id-ID" sz="2800" b="1" dirty="0">
                <a:solidFill>
                  <a:srgbClr val="1B5E20"/>
                </a:solidFill>
              </a:rPr>
              <a:t>Fitur </a:t>
            </a:r>
            <a:r>
              <a:rPr lang="id-ID" sz="2800" b="1" dirty="0" smtClean="0">
                <a:solidFill>
                  <a:srgbClr val="1B5E20"/>
                </a:solidFill>
              </a:rPr>
              <a:t>4 </a:t>
            </a:r>
            <a:r>
              <a:rPr lang="id-ID" sz="2800" b="1" dirty="0">
                <a:solidFill>
                  <a:srgbClr val="1B5E20"/>
                </a:solidFill>
              </a:rPr>
              <a:t>— Laporan Harian (LHUBB)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60120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id-ID" sz="1400" dirty="0"/>
              <a:t>Halaman: /laporan-harian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097280" cy="4445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dirty="0">
                <a:solidFill>
                  <a:srgbClr val="5C6B63"/>
                </a:solidFill>
                <a:latin typeface="Calibri"/>
              </a:rPr>
              <a:t>8</a:t>
            </a:r>
            <a:r>
              <a:rPr sz="1000" b="0" dirty="0" smtClean="0">
                <a:solidFill>
                  <a:srgbClr val="5C6B63"/>
                </a:solidFill>
                <a:latin typeface="Calibri"/>
              </a:rPr>
              <a:t> </a:t>
            </a:r>
            <a:r>
              <a:rPr sz="1000" b="0" dirty="0">
                <a:solidFill>
                  <a:srgbClr val="5C6B63"/>
                </a:solidFill>
                <a:latin typeface="Calibri"/>
              </a:rPr>
              <a:t>/ </a:t>
            </a:r>
            <a:r>
              <a:rPr sz="1000" b="0" dirty="0" smtClean="0">
                <a:solidFill>
                  <a:srgbClr val="5C6B63"/>
                </a:solidFill>
                <a:latin typeface="Calibri"/>
              </a:rPr>
              <a:t>14</a:t>
            </a:r>
            <a:endParaRPr sz="1000" b="0" dirty="0">
              <a:solidFill>
                <a:srgbClr val="5C6B63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PowerOps  •  Inovasi Digital UBB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600200"/>
            <a:ext cx="5943600" cy="34221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737360"/>
            <a:ext cx="5669280" cy="32004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" y="1801368"/>
            <a:ext cx="155448" cy="155448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5840" y="1801368"/>
            <a:ext cx="155448" cy="155448"/>
          </a:xfrm>
          <a:prstGeom prst="roundRect">
            <a:avLst>
              <a:gd name="adj" fmla="val 10000"/>
            </a:avLst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207008" y="1801368"/>
            <a:ext cx="155448" cy="155448"/>
          </a:xfrm>
          <a:prstGeom prst="roundRect">
            <a:avLst>
              <a:gd name="adj" fmla="val 10000"/>
            </a:avLst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63040" y="1773936"/>
            <a:ext cx="484632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id-ID" sz="1000" dirty="0">
                <a:solidFill>
                  <a:srgbClr val="5C6B63"/>
                </a:solidFill>
              </a:rPr>
              <a:t>https://utilitas.vercel.app/laporan-harian</a:t>
            </a:r>
            <a:endParaRPr sz="1000" b="0" dirty="0">
              <a:solidFill>
                <a:srgbClr val="5C6B63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675120" y="1600200"/>
            <a:ext cx="4937760" cy="34221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9440" y="1783080"/>
            <a:ext cx="43891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dirty="0" err="1">
                <a:solidFill>
                  <a:srgbClr val="1B5E20"/>
                </a:solidFill>
                <a:latin typeface="Calibri"/>
              </a:rPr>
              <a:t>Kemampuan</a:t>
            </a:r>
            <a:r>
              <a:rPr sz="1600" b="1" dirty="0">
                <a:solidFill>
                  <a:srgbClr val="1B5E20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B5E20"/>
                </a:solidFill>
                <a:latin typeface="Calibri"/>
              </a:rPr>
              <a:t>Utama</a:t>
            </a:r>
            <a:endParaRPr sz="1600" b="1" dirty="0">
              <a:solidFill>
                <a:srgbClr val="1B5E20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017680" y="2122088"/>
            <a:ext cx="1656000" cy="3175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0" y="2136552"/>
            <a:ext cx="4389120" cy="268919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lvl="0">
              <a:lnSpc>
                <a:spcPct val="125000"/>
              </a:lnSpc>
            </a:pPr>
            <a:r>
              <a:rPr lang="id-ID" sz="1500" b="1" dirty="0"/>
              <a:t>●  Agregasi 24 jam: </a:t>
            </a:r>
            <a:r>
              <a:rPr lang="id-ID" sz="1500" dirty="0"/>
              <a:t>steam, power, coal, unloading fly ash A/B</a:t>
            </a:r>
          </a:p>
          <a:p>
            <a:pPr lvl="0">
              <a:lnSpc>
                <a:spcPct val="125000"/>
              </a:lnSpc>
            </a:pPr>
            <a:r>
              <a:rPr lang="id-ID" sz="1500" b="1" dirty="0"/>
              <a:t>●  Foreman tinggal review: </a:t>
            </a:r>
            <a:r>
              <a:rPr lang="id-ID" sz="1500" dirty="0"/>
              <a:t>tidak perlu ketik ulang dari buku operator</a:t>
            </a:r>
          </a:p>
          <a:p>
            <a:pPr lvl="0">
              <a:lnSpc>
                <a:spcPct val="125000"/>
              </a:lnSpc>
            </a:pPr>
            <a:r>
              <a:rPr lang="id-ID" sz="1500" b="1" dirty="0"/>
              <a:t>●  Preview siap cetak: </a:t>
            </a:r>
            <a:r>
              <a:rPr lang="id-ID" sz="1500" dirty="0"/>
              <a:t>layout laporan resmi</a:t>
            </a:r>
          </a:p>
          <a:p>
            <a:pPr lvl="0">
              <a:lnSpc>
                <a:spcPct val="125000"/>
              </a:lnSpc>
            </a:pPr>
            <a:r>
              <a:rPr lang="id-ID" sz="1500" b="1" dirty="0"/>
              <a:t>●  Kirim via WhatsApp: </a:t>
            </a:r>
            <a:r>
              <a:rPr lang="id-ID" sz="1500" dirty="0"/>
              <a:t>integrasi notifikasi otomatis</a:t>
            </a:r>
          </a:p>
          <a:p>
            <a:pPr lvl="0">
              <a:lnSpc>
                <a:spcPct val="125000"/>
              </a:lnSpc>
            </a:pPr>
            <a:r>
              <a:rPr lang="id-ID" sz="1500" b="1" dirty="0"/>
              <a:t>●  Data turunan otomatis: </a:t>
            </a:r>
            <a:r>
              <a:rPr lang="id-ID" sz="1500" dirty="0"/>
              <a:t>dari tabel input-shift harian</a:t>
            </a:r>
          </a:p>
          <a:p>
            <a:pPr lvl="0">
              <a:lnSpc>
                <a:spcPct val="125000"/>
              </a:lnSpc>
            </a:pPr>
            <a:r>
              <a:rPr lang="id-ID" sz="1500" b="1" dirty="0"/>
              <a:t>●  History tersimpan: </a:t>
            </a:r>
            <a:r>
              <a:rPr lang="id-ID" sz="1500" dirty="0"/>
              <a:t>semua laporan harian bisa ditelusuri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70083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5422997"/>
            <a:ext cx="11064240" cy="33239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lang="id-ID" b="1" dirty="0">
                <a:solidFill>
                  <a:srgbClr val="FFFFFF"/>
                </a:solidFill>
              </a:rPr>
              <a:t>✓  Menjawab Masalah #3 (lanjut): Foreman </a:t>
            </a:r>
            <a:r>
              <a:rPr lang="id-ID" b="1" dirty="0" smtClean="0">
                <a:solidFill>
                  <a:srgbClr val="FFFFFF"/>
                </a:solidFill>
              </a:rPr>
              <a:t>&amp; Supervisor fokus </a:t>
            </a:r>
            <a:r>
              <a:rPr lang="id-ID" b="1" dirty="0">
                <a:solidFill>
                  <a:srgbClr val="FFFFFF"/>
                </a:solidFill>
              </a:rPr>
              <a:t>review, bukan entry ulang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61"/>
          <a:stretch/>
        </p:blipFill>
        <p:spPr>
          <a:xfrm>
            <a:off x="685800" y="2155434"/>
            <a:ext cx="5667691" cy="251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072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ardrop 2"/>
          <p:cNvSpPr/>
          <p:nvPr/>
        </p:nvSpPr>
        <p:spPr>
          <a:xfrm rot="19800000">
            <a:off x="11475720" y="228600"/>
            <a:ext cx="411480" cy="411480"/>
          </a:xfrm>
          <a:prstGeom prst="teardrop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ardrop 3"/>
          <p:cNvSpPr/>
          <p:nvPr/>
        </p:nvSpPr>
        <p:spPr>
          <a:xfrm rot="19800000">
            <a:off x="11201400" y="411480"/>
            <a:ext cx="320040" cy="320040"/>
          </a:xfrm>
          <a:prstGeom prst="teardrop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601200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id-ID" sz="2800" b="1" dirty="0">
                <a:solidFill>
                  <a:srgbClr val="1B5E20"/>
                </a:solidFill>
              </a:rPr>
              <a:t>Fitur </a:t>
            </a:r>
            <a:r>
              <a:rPr lang="id-ID" sz="2800" b="1" dirty="0" smtClean="0">
                <a:solidFill>
                  <a:srgbClr val="1B5E20"/>
                </a:solidFill>
              </a:rPr>
              <a:t>5 </a:t>
            </a:r>
            <a:r>
              <a:rPr lang="id-ID" sz="2800" b="1" dirty="0">
                <a:solidFill>
                  <a:srgbClr val="1B5E20"/>
                </a:solidFill>
              </a:rPr>
              <a:t>— Critical + Maintenance Terintegrasi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60120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id-ID" sz="1400" dirty="0"/>
              <a:t>Halaman: /critical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097280" cy="4445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dirty="0">
                <a:solidFill>
                  <a:srgbClr val="5C6B63"/>
                </a:solidFill>
                <a:latin typeface="Calibri"/>
              </a:rPr>
              <a:t>9</a:t>
            </a:r>
            <a:r>
              <a:rPr sz="1000" b="0" dirty="0" smtClean="0">
                <a:solidFill>
                  <a:srgbClr val="5C6B63"/>
                </a:solidFill>
                <a:latin typeface="Calibri"/>
              </a:rPr>
              <a:t> </a:t>
            </a:r>
            <a:r>
              <a:rPr sz="1000" b="0" dirty="0">
                <a:solidFill>
                  <a:srgbClr val="5C6B63"/>
                </a:solidFill>
                <a:latin typeface="Calibri"/>
              </a:rPr>
              <a:t>/ </a:t>
            </a:r>
            <a:r>
              <a:rPr sz="1000" b="0" dirty="0" smtClean="0">
                <a:solidFill>
                  <a:srgbClr val="5C6B63"/>
                </a:solidFill>
                <a:latin typeface="Calibri"/>
              </a:rPr>
              <a:t>14</a:t>
            </a:r>
            <a:endParaRPr sz="1000" b="0" dirty="0">
              <a:solidFill>
                <a:srgbClr val="5C6B63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PowerOps  •  Inovasi Digital UBB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600200"/>
            <a:ext cx="5943600" cy="34221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737360"/>
            <a:ext cx="5669280" cy="32004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" y="1801368"/>
            <a:ext cx="155448" cy="155448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5840" y="1801368"/>
            <a:ext cx="155448" cy="155448"/>
          </a:xfrm>
          <a:prstGeom prst="roundRect">
            <a:avLst>
              <a:gd name="adj" fmla="val 10000"/>
            </a:avLst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207008" y="1801368"/>
            <a:ext cx="155448" cy="155448"/>
          </a:xfrm>
          <a:prstGeom prst="roundRect">
            <a:avLst>
              <a:gd name="adj" fmla="val 10000"/>
            </a:avLst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63040" y="1773936"/>
            <a:ext cx="484632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id-ID" sz="1000" dirty="0">
                <a:solidFill>
                  <a:srgbClr val="5C6B63"/>
                </a:solidFill>
              </a:rPr>
              <a:t>https://utilitas.vercel.app/critical</a:t>
            </a:r>
            <a:endParaRPr sz="1000" b="0" dirty="0">
              <a:solidFill>
                <a:srgbClr val="5C6B63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675120" y="1600200"/>
            <a:ext cx="4937760" cy="34221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9440" y="1783080"/>
            <a:ext cx="43891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dirty="0" err="1">
                <a:solidFill>
                  <a:srgbClr val="1B5E20"/>
                </a:solidFill>
                <a:latin typeface="Calibri"/>
              </a:rPr>
              <a:t>Kemampuan</a:t>
            </a:r>
            <a:r>
              <a:rPr sz="1600" b="1" dirty="0">
                <a:solidFill>
                  <a:srgbClr val="1B5E20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B5E20"/>
                </a:solidFill>
                <a:latin typeface="Calibri"/>
              </a:rPr>
              <a:t>Utama</a:t>
            </a:r>
            <a:endParaRPr sz="1600" b="1" dirty="0">
              <a:solidFill>
                <a:srgbClr val="1B5E20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017680" y="2122088"/>
            <a:ext cx="1656000" cy="3175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0" y="2068312"/>
            <a:ext cx="4389120" cy="303474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lvl="0">
              <a:lnSpc>
                <a:spcPct val="125000"/>
              </a:lnSpc>
            </a:pPr>
            <a:r>
              <a:rPr lang="id-ID" sz="1400" b="1" dirty="0"/>
              <a:t>●  Daftar critical equipment: </a:t>
            </a:r>
            <a:r>
              <a:rPr lang="id-ID" sz="1400" dirty="0"/>
              <a:t>item, deskripsi, scope, foreman, status, notif</a:t>
            </a:r>
          </a:p>
          <a:p>
            <a:pPr lvl="0">
              <a:lnSpc>
                <a:spcPct val="125000"/>
              </a:lnSpc>
            </a:pPr>
            <a:r>
              <a:rPr lang="id-ID" sz="1400" b="1" dirty="0"/>
              <a:t>●  Maintenance log per item: </a:t>
            </a:r>
            <a:r>
              <a:rPr lang="id-ID" sz="1400" dirty="0"/>
              <a:t>corrective, preventif, modifikasi</a:t>
            </a:r>
          </a:p>
          <a:p>
            <a:pPr lvl="0">
              <a:lnSpc>
                <a:spcPct val="125000"/>
              </a:lnSpc>
            </a:pPr>
            <a:r>
              <a:rPr lang="id-ID" sz="1400" b="1" dirty="0"/>
              <a:t>●  Timeline activity: </a:t>
            </a:r>
            <a:r>
              <a:rPr lang="id-ID" sz="1400" dirty="0"/>
              <a:t>siapa mengubah apa, kapan</a:t>
            </a:r>
          </a:p>
          <a:p>
            <a:pPr lvl="0">
              <a:lnSpc>
                <a:spcPct val="125000"/>
              </a:lnSpc>
            </a:pPr>
            <a:r>
              <a:rPr lang="id-ID" sz="1400" b="1" dirty="0"/>
              <a:t>●  Filter per equipment: </a:t>
            </a:r>
            <a:r>
              <a:rPr lang="id-ID" sz="1400" dirty="0"/>
              <a:t>lihat semua history dalam satu layar</a:t>
            </a:r>
          </a:p>
          <a:p>
            <a:pPr lvl="0">
              <a:lnSpc>
                <a:spcPct val="125000"/>
              </a:lnSpc>
            </a:pPr>
            <a:r>
              <a:rPr lang="id-ID" sz="1400" b="1" dirty="0"/>
              <a:t>●  Status auto-sync: </a:t>
            </a:r>
            <a:r>
              <a:rPr lang="id-ID" sz="1400" dirty="0"/>
              <a:t>semua maintenance OK → critical bisa close</a:t>
            </a:r>
          </a:p>
          <a:p>
            <a:pPr lvl="0">
              <a:lnSpc>
                <a:spcPct val="125000"/>
              </a:lnSpc>
            </a:pPr>
            <a:r>
              <a:rPr lang="id-ID" sz="1400" b="1" dirty="0"/>
              <a:t>●  Work orders: </a:t>
            </a:r>
            <a:r>
              <a:rPr lang="id-ID" sz="1400" dirty="0"/>
              <a:t>perencanaan preventif/modifikasi terjadwal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70083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5422997"/>
            <a:ext cx="11064240" cy="33239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</a:rPr>
              <a:t>✓  </a:t>
            </a:r>
            <a:r>
              <a:rPr lang="en-US" b="1" dirty="0" err="1">
                <a:solidFill>
                  <a:srgbClr val="FFFFFF"/>
                </a:solidFill>
              </a:rPr>
              <a:t>Menjawab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Masalah</a:t>
            </a:r>
            <a:r>
              <a:rPr lang="en-US" b="1" dirty="0">
                <a:solidFill>
                  <a:srgbClr val="FFFFFF"/>
                </a:solidFill>
              </a:rPr>
              <a:t> #4: History per equipment </a:t>
            </a:r>
            <a:r>
              <a:rPr lang="en-US" b="1" dirty="0" err="1">
                <a:solidFill>
                  <a:srgbClr val="FFFFFF"/>
                </a:solidFill>
              </a:rPr>
              <a:t>kini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tertata</a:t>
            </a:r>
            <a:r>
              <a:rPr lang="en-US" b="1" dirty="0">
                <a:solidFill>
                  <a:srgbClr val="FFFFFF"/>
                </a:solidFill>
              </a:rPr>
              <a:t> &amp; </a:t>
            </a:r>
            <a:r>
              <a:rPr lang="id-ID" b="1" dirty="0" smtClean="0">
                <a:solidFill>
                  <a:srgbClr val="FFFFFF"/>
                </a:solidFill>
              </a:rPr>
              <a:t>terintegrasi</a:t>
            </a:r>
            <a:endParaRPr lang="en-US" b="1" dirty="0">
              <a:solidFill>
                <a:srgbClr val="FFFFFF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29" t="25076" r="16420" b="7834"/>
          <a:stretch/>
        </p:blipFill>
        <p:spPr>
          <a:xfrm>
            <a:off x="891540" y="2148207"/>
            <a:ext cx="5257799" cy="280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520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ardrop 2"/>
          <p:cNvSpPr/>
          <p:nvPr/>
        </p:nvSpPr>
        <p:spPr>
          <a:xfrm rot="19800000">
            <a:off x="11475720" y="228600"/>
            <a:ext cx="411480" cy="411480"/>
          </a:xfrm>
          <a:prstGeom prst="teardrop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ardrop 3"/>
          <p:cNvSpPr/>
          <p:nvPr/>
        </p:nvSpPr>
        <p:spPr>
          <a:xfrm rot="19800000">
            <a:off x="11201400" y="411480"/>
            <a:ext cx="320040" cy="320040"/>
          </a:xfrm>
          <a:prstGeom prst="teardrop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>
                <a:solidFill>
                  <a:srgbClr val="1B5E20"/>
                </a:solidFill>
                <a:latin typeface="Calibri"/>
              </a:rPr>
              <a:t>Workflow: Sebelum vs Sesudah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608" y="868680"/>
            <a:ext cx="960120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 dirty="0" err="1">
                <a:latin typeface="Calibri"/>
              </a:rPr>
              <a:t>Perbandingan</a:t>
            </a:r>
            <a:r>
              <a:rPr sz="2000" b="1" dirty="0">
                <a:latin typeface="Calibri"/>
              </a:rPr>
              <a:t> </a:t>
            </a:r>
            <a:r>
              <a:rPr sz="2000" b="1" dirty="0" err="1">
                <a:latin typeface="Calibri"/>
              </a:rPr>
              <a:t>kongkret</a:t>
            </a:r>
            <a:r>
              <a:rPr sz="2000" b="1" dirty="0">
                <a:latin typeface="Calibri"/>
              </a:rPr>
              <a:t> proses </a:t>
            </a:r>
            <a:r>
              <a:rPr sz="2000" b="1" dirty="0" err="1">
                <a:latin typeface="Calibri"/>
              </a:rPr>
              <a:t>operasional</a:t>
            </a:r>
            <a:r>
              <a:rPr sz="2000" b="1" dirty="0">
                <a:latin typeface="Calibri"/>
              </a:rPr>
              <a:t> </a:t>
            </a:r>
            <a:r>
              <a:rPr sz="2000" b="1" dirty="0" err="1">
                <a:latin typeface="Calibri"/>
              </a:rPr>
              <a:t>harian</a:t>
            </a:r>
            <a:endParaRPr sz="2000" b="1" dirty="0"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076000" cy="4445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dirty="0" smtClean="0">
                <a:solidFill>
                  <a:srgbClr val="5C6B63"/>
                </a:solidFill>
                <a:latin typeface="Calibri"/>
              </a:rPr>
              <a:t>10 </a:t>
            </a:r>
            <a:r>
              <a:rPr sz="1000" b="0" dirty="0">
                <a:solidFill>
                  <a:srgbClr val="5C6B63"/>
                </a:solidFill>
                <a:latin typeface="Calibri"/>
              </a:rPr>
              <a:t>/ </a:t>
            </a:r>
            <a:r>
              <a:rPr sz="1000" b="0" dirty="0" smtClean="0">
                <a:solidFill>
                  <a:srgbClr val="5C6B63"/>
                </a:solidFill>
                <a:latin typeface="Calibri"/>
              </a:rPr>
              <a:t>14</a:t>
            </a:r>
            <a:endParaRPr sz="1000" b="0" dirty="0">
              <a:solidFill>
                <a:srgbClr val="5C6B63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PowerOps  •  Inovasi Digital UBB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00200"/>
            <a:ext cx="3017520" cy="5029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670072"/>
            <a:ext cx="3017520" cy="36317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Calibri"/>
              </a:rPr>
              <a:t>Proses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1600200"/>
            <a:ext cx="4023360" cy="5029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6160" y="1670072"/>
            <a:ext cx="4023360" cy="36317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 dirty="0" err="1">
                <a:solidFill>
                  <a:srgbClr val="FFFFFF"/>
                </a:solidFill>
                <a:latin typeface="Calibri"/>
              </a:rPr>
              <a:t>Sebelum</a:t>
            </a:r>
            <a:endParaRPr sz="2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89520" y="1600200"/>
            <a:ext cx="4206240" cy="5029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0" y="1670072"/>
            <a:ext cx="4206240" cy="36317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 dirty="0" err="1">
                <a:solidFill>
                  <a:srgbClr val="FFFFFF"/>
                </a:solidFill>
                <a:latin typeface="Calibri"/>
              </a:rPr>
              <a:t>Sesudah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Calibri"/>
              </a:rPr>
              <a:t>dengan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Calibri"/>
              </a:rPr>
              <a:t>PowerOps</a:t>
            </a:r>
            <a:endParaRPr sz="2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2103120"/>
            <a:ext cx="3017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234100"/>
            <a:ext cx="2834640" cy="33239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b="1" dirty="0">
                <a:solidFill>
                  <a:srgbClr val="1B5E20"/>
                </a:solidFill>
                <a:latin typeface="Calibri"/>
              </a:rPr>
              <a:t>Update level </a:t>
            </a:r>
            <a:r>
              <a:rPr b="1" dirty="0" err="1">
                <a:solidFill>
                  <a:srgbClr val="1B5E20"/>
                </a:solidFill>
                <a:latin typeface="Calibri"/>
              </a:rPr>
              <a:t>tanki</a:t>
            </a:r>
            <a:r>
              <a:rPr b="1" dirty="0">
                <a:solidFill>
                  <a:srgbClr val="1B5E20"/>
                </a:solidFill>
                <a:latin typeface="Calibri"/>
              </a:rPr>
              <a:t> </a:t>
            </a:r>
            <a:r>
              <a:rPr b="1" dirty="0" err="1">
                <a:solidFill>
                  <a:srgbClr val="1B5E20"/>
                </a:solidFill>
                <a:latin typeface="Calibri"/>
              </a:rPr>
              <a:t>ke</a:t>
            </a:r>
            <a:r>
              <a:rPr b="1" dirty="0">
                <a:solidFill>
                  <a:srgbClr val="1B5E20"/>
                </a:solidFill>
                <a:latin typeface="Calibri"/>
              </a:rPr>
              <a:t> CCR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2103120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0" y="2234101"/>
            <a:ext cx="3840480" cy="33239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b="0" dirty="0" err="1">
                <a:solidFill>
                  <a:srgbClr val="C62828"/>
                </a:solidFill>
                <a:latin typeface="Calibri"/>
              </a:rPr>
              <a:t>Telepon</a:t>
            </a:r>
            <a:r>
              <a:rPr b="0" dirty="0">
                <a:solidFill>
                  <a:srgbClr val="C62828"/>
                </a:solidFill>
                <a:latin typeface="Calibri"/>
              </a:rPr>
              <a:t> </a:t>
            </a:r>
            <a:r>
              <a:rPr b="0" dirty="0" err="1" smtClean="0">
                <a:solidFill>
                  <a:srgbClr val="C62828"/>
                </a:solidFill>
                <a:latin typeface="Calibri"/>
              </a:rPr>
              <a:t>dan</a:t>
            </a:r>
            <a:r>
              <a:rPr b="0" dirty="0" smtClean="0">
                <a:solidFill>
                  <a:srgbClr val="C62828"/>
                </a:solidFill>
                <a:latin typeface="Calibri"/>
              </a:rPr>
              <a:t> </a:t>
            </a:r>
            <a:r>
              <a:rPr b="0" dirty="0" err="1" smtClean="0">
                <a:solidFill>
                  <a:srgbClr val="C62828"/>
                </a:solidFill>
                <a:latin typeface="Calibri"/>
              </a:rPr>
              <a:t>melalui</a:t>
            </a:r>
            <a:r>
              <a:rPr b="0" dirty="0" smtClean="0">
                <a:solidFill>
                  <a:srgbClr val="C62828"/>
                </a:solidFill>
                <a:latin typeface="Calibri"/>
              </a:rPr>
              <a:t> HT </a:t>
            </a:r>
            <a:r>
              <a:rPr b="0" dirty="0" err="1">
                <a:solidFill>
                  <a:srgbClr val="C62828"/>
                </a:solidFill>
                <a:latin typeface="Calibri"/>
              </a:rPr>
              <a:t>tiap</a:t>
            </a:r>
            <a:r>
              <a:rPr b="0" dirty="0">
                <a:solidFill>
                  <a:srgbClr val="C62828"/>
                </a:solidFill>
                <a:latin typeface="Calibri"/>
              </a:rPr>
              <a:t> 2 jam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2103120"/>
            <a:ext cx="4206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80960" y="2234101"/>
            <a:ext cx="4023360" cy="33239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b="1" dirty="0" err="1">
                <a:solidFill>
                  <a:srgbClr val="2E7D32"/>
                </a:solidFill>
                <a:latin typeface="Calibri"/>
              </a:rPr>
              <a:t>Buka</a:t>
            </a:r>
            <a:r>
              <a:rPr b="1" dirty="0">
                <a:solidFill>
                  <a:srgbClr val="2E7D32"/>
                </a:solidFill>
                <a:latin typeface="Calibri"/>
              </a:rPr>
              <a:t> </a:t>
            </a:r>
            <a:r>
              <a:rPr b="1" dirty="0" err="1">
                <a:solidFill>
                  <a:srgbClr val="2E7D32"/>
                </a:solidFill>
                <a:latin typeface="Calibri"/>
              </a:rPr>
              <a:t>layar</a:t>
            </a:r>
            <a:r>
              <a:rPr b="1" dirty="0">
                <a:solidFill>
                  <a:srgbClr val="2E7D32"/>
                </a:solidFill>
                <a:latin typeface="Calibri"/>
              </a:rPr>
              <a:t>, data auto-refresh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97480"/>
            <a:ext cx="3017520" cy="59436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2828460"/>
            <a:ext cx="2834640" cy="33239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b="1" dirty="0" err="1">
                <a:solidFill>
                  <a:srgbClr val="1B5E20"/>
                </a:solidFill>
                <a:latin typeface="Calibri"/>
              </a:rPr>
              <a:t>Laporan</a:t>
            </a:r>
            <a:r>
              <a:rPr b="1" dirty="0">
                <a:solidFill>
                  <a:srgbClr val="1B5E20"/>
                </a:solidFill>
                <a:latin typeface="Calibri"/>
              </a:rPr>
              <a:t> shift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2697480"/>
            <a:ext cx="4023360" cy="59436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0" y="2689962"/>
            <a:ext cx="3840480" cy="60939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b="0" dirty="0" err="1">
                <a:solidFill>
                  <a:srgbClr val="C62828"/>
                </a:solidFill>
                <a:latin typeface="Calibri"/>
              </a:rPr>
              <a:t>Tulis</a:t>
            </a:r>
            <a:r>
              <a:rPr b="0" dirty="0">
                <a:solidFill>
                  <a:srgbClr val="C62828"/>
                </a:solidFill>
                <a:latin typeface="Calibri"/>
              </a:rPr>
              <a:t> </a:t>
            </a:r>
            <a:r>
              <a:rPr b="0" dirty="0" err="1">
                <a:solidFill>
                  <a:srgbClr val="C62828"/>
                </a:solidFill>
                <a:latin typeface="Calibri"/>
              </a:rPr>
              <a:t>buku</a:t>
            </a:r>
            <a:r>
              <a:rPr b="0" dirty="0">
                <a:solidFill>
                  <a:srgbClr val="C62828"/>
                </a:solidFill>
                <a:latin typeface="Calibri"/>
              </a:rPr>
              <a:t> → </a:t>
            </a:r>
            <a:r>
              <a:rPr b="0" dirty="0" err="1">
                <a:solidFill>
                  <a:srgbClr val="C62828"/>
                </a:solidFill>
                <a:latin typeface="Calibri"/>
              </a:rPr>
              <a:t>hitung</a:t>
            </a:r>
            <a:r>
              <a:rPr b="0" dirty="0">
                <a:solidFill>
                  <a:srgbClr val="C62828"/>
                </a:solidFill>
                <a:latin typeface="Calibri"/>
              </a:rPr>
              <a:t> </a:t>
            </a:r>
            <a:r>
              <a:rPr b="0" dirty="0" err="1">
                <a:solidFill>
                  <a:srgbClr val="C62828"/>
                </a:solidFill>
                <a:latin typeface="Calibri"/>
              </a:rPr>
              <a:t>kalkulator</a:t>
            </a:r>
            <a:r>
              <a:rPr b="0" dirty="0">
                <a:solidFill>
                  <a:srgbClr val="C62828"/>
                </a:solidFill>
                <a:latin typeface="Calibri"/>
              </a:rPr>
              <a:t> → foreman </a:t>
            </a:r>
            <a:r>
              <a:rPr b="0" dirty="0" err="1">
                <a:solidFill>
                  <a:srgbClr val="C62828"/>
                </a:solidFill>
                <a:latin typeface="Calibri"/>
              </a:rPr>
              <a:t>ketik</a:t>
            </a:r>
            <a:r>
              <a:rPr b="0" dirty="0">
                <a:solidFill>
                  <a:srgbClr val="C62828"/>
                </a:solidFill>
                <a:latin typeface="Calibri"/>
              </a:rPr>
              <a:t> </a:t>
            </a:r>
            <a:r>
              <a:rPr b="0" dirty="0" err="1">
                <a:solidFill>
                  <a:srgbClr val="C62828"/>
                </a:solidFill>
                <a:latin typeface="Calibri"/>
              </a:rPr>
              <a:t>ulang</a:t>
            </a:r>
            <a:r>
              <a:rPr b="0" dirty="0">
                <a:solidFill>
                  <a:srgbClr val="C62828"/>
                </a:solidFill>
                <a:latin typeface="Calibri"/>
              </a:rPr>
              <a:t> Sheets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2697480"/>
            <a:ext cx="4206240" cy="59436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80960" y="2689962"/>
            <a:ext cx="4023360" cy="60939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b="1" dirty="0">
                <a:solidFill>
                  <a:srgbClr val="2E7D32"/>
                </a:solidFill>
                <a:latin typeface="Calibri"/>
              </a:rPr>
              <a:t>Operator input di app (</a:t>
            </a:r>
            <a:r>
              <a:rPr b="1" dirty="0" err="1">
                <a:solidFill>
                  <a:srgbClr val="2E7D32"/>
                </a:solidFill>
                <a:latin typeface="Calibri"/>
              </a:rPr>
              <a:t>autocalculate</a:t>
            </a:r>
            <a:r>
              <a:rPr b="1" dirty="0">
                <a:solidFill>
                  <a:srgbClr val="2E7D32"/>
                </a:solidFill>
                <a:latin typeface="Calibri"/>
              </a:rPr>
              <a:t>) → </a:t>
            </a:r>
            <a:r>
              <a:rPr b="1" dirty="0" smtClean="0">
                <a:solidFill>
                  <a:srgbClr val="2E7D32"/>
                </a:solidFill>
                <a:latin typeface="Calibri"/>
              </a:rPr>
              <a:t>foreman/supervisor </a:t>
            </a:r>
            <a:r>
              <a:rPr b="1" dirty="0">
                <a:solidFill>
                  <a:srgbClr val="2E7D32"/>
                </a:solidFill>
                <a:latin typeface="Calibri"/>
              </a:rPr>
              <a:t>review &amp; </a:t>
            </a:r>
            <a:r>
              <a:rPr b="1" dirty="0" err="1">
                <a:solidFill>
                  <a:srgbClr val="2E7D32"/>
                </a:solidFill>
                <a:latin typeface="Calibri"/>
              </a:rPr>
              <a:t>finalisasi</a:t>
            </a:r>
            <a:endParaRPr b="1" dirty="0">
              <a:solidFill>
                <a:srgbClr val="2E7D32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48640" y="3291840"/>
            <a:ext cx="3017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3422820"/>
            <a:ext cx="2834640" cy="33239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b="1" dirty="0" err="1">
                <a:solidFill>
                  <a:srgbClr val="1B5E20"/>
                </a:solidFill>
                <a:latin typeface="Calibri"/>
              </a:rPr>
              <a:t>Cek</a:t>
            </a:r>
            <a:r>
              <a:rPr b="1" dirty="0">
                <a:solidFill>
                  <a:srgbClr val="1B5E20"/>
                </a:solidFill>
                <a:latin typeface="Calibri"/>
              </a:rPr>
              <a:t> history parameter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66160" y="3291840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0" y="3422821"/>
            <a:ext cx="3840480" cy="33239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b="0" dirty="0" err="1">
                <a:solidFill>
                  <a:srgbClr val="C62828"/>
                </a:solidFill>
                <a:latin typeface="Calibri"/>
              </a:rPr>
              <a:t>Buka</a:t>
            </a:r>
            <a:r>
              <a:rPr b="0" dirty="0">
                <a:solidFill>
                  <a:srgbClr val="C62828"/>
                </a:solidFill>
                <a:latin typeface="Calibri"/>
              </a:rPr>
              <a:t> </a:t>
            </a:r>
            <a:r>
              <a:rPr b="0" dirty="0" err="1">
                <a:solidFill>
                  <a:srgbClr val="C62828"/>
                </a:solidFill>
                <a:latin typeface="Calibri"/>
              </a:rPr>
              <a:t>buku</a:t>
            </a:r>
            <a:r>
              <a:rPr b="0" dirty="0">
                <a:solidFill>
                  <a:srgbClr val="C62828"/>
                </a:solidFill>
                <a:latin typeface="Calibri"/>
              </a:rPr>
              <a:t> shift </a:t>
            </a:r>
            <a:r>
              <a:rPr b="0" dirty="0" err="1">
                <a:solidFill>
                  <a:srgbClr val="C62828"/>
                </a:solidFill>
                <a:latin typeface="Calibri"/>
              </a:rPr>
              <a:t>fisik</a:t>
            </a:r>
            <a:r>
              <a:rPr b="0" dirty="0">
                <a:solidFill>
                  <a:srgbClr val="C62828"/>
                </a:solidFill>
                <a:latin typeface="Calibri"/>
              </a:rPr>
              <a:t> lama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0" y="3291840"/>
            <a:ext cx="4206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80960" y="3284322"/>
            <a:ext cx="4023360" cy="60939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b="1" dirty="0" err="1">
                <a:solidFill>
                  <a:srgbClr val="2E7D32"/>
                </a:solidFill>
                <a:latin typeface="Calibri"/>
              </a:rPr>
              <a:t>Halaman</a:t>
            </a:r>
            <a:r>
              <a:rPr b="1" dirty="0">
                <a:solidFill>
                  <a:srgbClr val="2E7D32"/>
                </a:solidFill>
                <a:latin typeface="Calibri"/>
              </a:rPr>
              <a:t> History </a:t>
            </a:r>
            <a:r>
              <a:rPr b="1" dirty="0" err="1">
                <a:solidFill>
                  <a:srgbClr val="2E7D32"/>
                </a:solidFill>
                <a:latin typeface="Calibri"/>
              </a:rPr>
              <a:t>dengan</a:t>
            </a:r>
            <a:r>
              <a:rPr b="1" dirty="0">
                <a:solidFill>
                  <a:srgbClr val="2E7D32"/>
                </a:solidFill>
                <a:latin typeface="Calibri"/>
              </a:rPr>
              <a:t> filter &amp; custom column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886200"/>
            <a:ext cx="3017520" cy="59436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4017180"/>
            <a:ext cx="2834640" cy="33239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b="1" dirty="0" err="1">
                <a:solidFill>
                  <a:srgbClr val="1B5E20"/>
                </a:solidFill>
                <a:latin typeface="Calibri"/>
              </a:rPr>
              <a:t>Catat</a:t>
            </a:r>
            <a:r>
              <a:rPr b="1" dirty="0">
                <a:solidFill>
                  <a:srgbClr val="1B5E20"/>
                </a:solidFill>
                <a:latin typeface="Calibri"/>
              </a:rPr>
              <a:t> critical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6160" y="3886200"/>
            <a:ext cx="4023360" cy="59436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0" y="4017181"/>
            <a:ext cx="3840480" cy="33239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b="0" dirty="0">
                <a:solidFill>
                  <a:srgbClr val="C62828"/>
                </a:solidFill>
                <a:latin typeface="Calibri"/>
              </a:rPr>
              <a:t>Form </a:t>
            </a:r>
            <a:r>
              <a:rPr b="0" dirty="0" err="1">
                <a:solidFill>
                  <a:srgbClr val="C62828"/>
                </a:solidFill>
                <a:latin typeface="Calibri"/>
              </a:rPr>
              <a:t>terpisah</a:t>
            </a:r>
            <a:r>
              <a:rPr b="0" dirty="0">
                <a:solidFill>
                  <a:srgbClr val="C62828"/>
                </a:solidFill>
                <a:latin typeface="Calibri"/>
              </a:rPr>
              <a:t>, </a:t>
            </a:r>
            <a:r>
              <a:rPr b="0" dirty="0" err="1">
                <a:solidFill>
                  <a:srgbClr val="C62828"/>
                </a:solidFill>
                <a:latin typeface="Calibri"/>
              </a:rPr>
              <a:t>arsip</a:t>
            </a:r>
            <a:r>
              <a:rPr b="0" dirty="0">
                <a:solidFill>
                  <a:srgbClr val="C62828"/>
                </a:solidFill>
                <a:latin typeface="Calibri"/>
              </a:rPr>
              <a:t> manual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0" y="3886200"/>
            <a:ext cx="4206240" cy="59436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680960" y="3878682"/>
            <a:ext cx="4023360" cy="60939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b="1" dirty="0">
                <a:solidFill>
                  <a:srgbClr val="2E7D32"/>
                </a:solidFill>
                <a:latin typeface="Calibri"/>
              </a:rPr>
              <a:t>1 entry → link </a:t>
            </a:r>
            <a:r>
              <a:rPr b="1" dirty="0" err="1">
                <a:solidFill>
                  <a:srgbClr val="2E7D32"/>
                </a:solidFill>
                <a:latin typeface="Calibri"/>
              </a:rPr>
              <a:t>ke</a:t>
            </a:r>
            <a:r>
              <a:rPr b="1" dirty="0">
                <a:solidFill>
                  <a:srgbClr val="2E7D32"/>
                </a:solidFill>
                <a:latin typeface="Calibri"/>
              </a:rPr>
              <a:t> maintenance → timeline </a:t>
            </a:r>
            <a:r>
              <a:rPr b="1" dirty="0" err="1">
                <a:solidFill>
                  <a:srgbClr val="2E7D32"/>
                </a:solidFill>
                <a:latin typeface="Calibri"/>
              </a:rPr>
              <a:t>tersimpan</a:t>
            </a:r>
            <a:endParaRPr b="1" dirty="0">
              <a:solidFill>
                <a:srgbClr val="2E7D32"/>
              </a:solidFill>
              <a:latin typeface="Calibr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48640" y="4480560"/>
            <a:ext cx="3017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4611540"/>
            <a:ext cx="2834640" cy="33239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b="1" dirty="0" err="1">
                <a:solidFill>
                  <a:srgbClr val="1B5E20"/>
                </a:solidFill>
                <a:latin typeface="Calibri"/>
              </a:rPr>
              <a:t>Cek</a:t>
            </a:r>
            <a:r>
              <a:rPr b="1" dirty="0">
                <a:solidFill>
                  <a:srgbClr val="1B5E20"/>
                </a:solidFill>
                <a:latin typeface="Calibri"/>
              </a:rPr>
              <a:t> level &amp; history solar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66160" y="4480560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57600" y="4611541"/>
            <a:ext cx="3840480" cy="33239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b="0" dirty="0">
                <a:solidFill>
                  <a:srgbClr val="C62828"/>
                </a:solidFill>
                <a:latin typeface="Calibri"/>
              </a:rPr>
              <a:t>Tanya handling </a:t>
            </a:r>
            <a:r>
              <a:rPr b="0" dirty="0" smtClean="0">
                <a:solidFill>
                  <a:srgbClr val="C62828"/>
                </a:solidFill>
                <a:latin typeface="Calibri"/>
              </a:rPr>
              <a:t>&amp; </a:t>
            </a:r>
            <a:r>
              <a:rPr b="0" dirty="0" err="1" smtClean="0">
                <a:solidFill>
                  <a:srgbClr val="C62828"/>
                </a:solidFill>
                <a:latin typeface="Calibri"/>
              </a:rPr>
              <a:t>tidak</a:t>
            </a:r>
            <a:r>
              <a:rPr b="0" dirty="0" smtClean="0">
                <a:solidFill>
                  <a:srgbClr val="C62828"/>
                </a:solidFill>
                <a:latin typeface="Calibri"/>
              </a:rPr>
              <a:t> </a:t>
            </a:r>
            <a:r>
              <a:rPr b="0" dirty="0" err="1" smtClean="0">
                <a:solidFill>
                  <a:srgbClr val="C62828"/>
                </a:solidFill>
                <a:latin typeface="Calibri"/>
              </a:rPr>
              <a:t>ada</a:t>
            </a:r>
            <a:r>
              <a:rPr b="0" dirty="0" smtClean="0">
                <a:solidFill>
                  <a:srgbClr val="C62828"/>
                </a:solidFill>
                <a:latin typeface="Calibri"/>
              </a:rPr>
              <a:t> list </a:t>
            </a:r>
            <a:r>
              <a:rPr b="0" dirty="0" err="1" smtClean="0">
                <a:solidFill>
                  <a:srgbClr val="C62828"/>
                </a:solidFill>
                <a:latin typeface="Calibri"/>
              </a:rPr>
              <a:t>khusus</a:t>
            </a:r>
            <a:endParaRPr b="0" dirty="0">
              <a:solidFill>
                <a:srgbClr val="C62828"/>
              </a:solidFill>
              <a:latin typeface="Calibr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7589520" y="4480560"/>
            <a:ext cx="4206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80960" y="4473042"/>
            <a:ext cx="4023360" cy="60939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b="1" dirty="0">
                <a:solidFill>
                  <a:srgbClr val="2E7D32"/>
                </a:solidFill>
                <a:latin typeface="Calibri"/>
              </a:rPr>
              <a:t>Modal solar </a:t>
            </a:r>
            <a:r>
              <a:rPr b="1" dirty="0" err="1">
                <a:solidFill>
                  <a:srgbClr val="2E7D32"/>
                </a:solidFill>
                <a:latin typeface="Calibri"/>
              </a:rPr>
              <a:t>dengan</a:t>
            </a:r>
            <a:r>
              <a:rPr b="1" dirty="0">
                <a:solidFill>
                  <a:srgbClr val="2E7D32"/>
                </a:solidFill>
                <a:latin typeface="Calibri"/>
              </a:rPr>
              <a:t> list unloading &amp; </a:t>
            </a:r>
            <a:r>
              <a:rPr b="1" dirty="0" err="1">
                <a:solidFill>
                  <a:srgbClr val="2E7D32"/>
                </a:solidFill>
                <a:latin typeface="Calibri"/>
              </a:rPr>
              <a:t>permintaan</a:t>
            </a:r>
            <a:endParaRPr b="1" dirty="0">
              <a:solidFill>
                <a:srgbClr val="2E7D32"/>
              </a:solidFill>
              <a:latin typeface="Calibr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48640" y="5074920"/>
            <a:ext cx="3017520" cy="59436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0080" y="5205900"/>
            <a:ext cx="2834640" cy="33239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b="1" dirty="0">
                <a:solidFill>
                  <a:srgbClr val="1B5E20"/>
                </a:solidFill>
                <a:latin typeface="Calibri"/>
              </a:rPr>
              <a:t>H</a:t>
            </a:r>
            <a:r>
              <a:rPr b="1" dirty="0" smtClean="0">
                <a:solidFill>
                  <a:srgbClr val="1B5E20"/>
                </a:solidFill>
                <a:latin typeface="Calibri"/>
              </a:rPr>
              <a:t>istory </a:t>
            </a:r>
            <a:r>
              <a:rPr b="1" dirty="0" err="1">
                <a:solidFill>
                  <a:srgbClr val="1B5E20"/>
                </a:solidFill>
                <a:latin typeface="Calibri"/>
              </a:rPr>
              <a:t>preventif</a:t>
            </a:r>
            <a:r>
              <a:rPr b="1" dirty="0">
                <a:solidFill>
                  <a:srgbClr val="1B5E20"/>
                </a:solidFill>
                <a:latin typeface="Calibri"/>
              </a:rPr>
              <a:t> </a:t>
            </a:r>
            <a:r>
              <a:rPr b="1" dirty="0" err="1">
                <a:solidFill>
                  <a:srgbClr val="1B5E20"/>
                </a:solidFill>
                <a:latin typeface="Calibri"/>
              </a:rPr>
              <a:t>pompa</a:t>
            </a:r>
            <a:r>
              <a:rPr b="1" dirty="0">
                <a:solidFill>
                  <a:srgbClr val="1B5E20"/>
                </a:solidFill>
                <a:latin typeface="Calibri"/>
              </a:rPr>
              <a:t> X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66160" y="5074920"/>
            <a:ext cx="4023360" cy="59436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657600" y="5205901"/>
            <a:ext cx="3840480" cy="33239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b="0" dirty="0" err="1">
                <a:solidFill>
                  <a:srgbClr val="C62828"/>
                </a:solidFill>
                <a:latin typeface="Calibri"/>
              </a:rPr>
              <a:t>Bongkar</a:t>
            </a:r>
            <a:r>
              <a:rPr b="0" dirty="0">
                <a:solidFill>
                  <a:srgbClr val="C62828"/>
                </a:solidFill>
                <a:latin typeface="Calibri"/>
              </a:rPr>
              <a:t> </a:t>
            </a:r>
            <a:r>
              <a:rPr b="0" dirty="0" err="1">
                <a:solidFill>
                  <a:srgbClr val="C62828"/>
                </a:solidFill>
                <a:latin typeface="Calibri"/>
              </a:rPr>
              <a:t>arsip</a:t>
            </a:r>
            <a:r>
              <a:rPr b="0" dirty="0">
                <a:solidFill>
                  <a:srgbClr val="C62828"/>
                </a:solidFill>
                <a:latin typeface="Calibri"/>
              </a:rPr>
              <a:t> per </a:t>
            </a:r>
            <a:r>
              <a:rPr b="0" dirty="0" err="1">
                <a:solidFill>
                  <a:srgbClr val="C62828"/>
                </a:solidFill>
                <a:latin typeface="Calibri"/>
              </a:rPr>
              <a:t>bulan</a:t>
            </a:r>
            <a:endParaRPr b="0" dirty="0">
              <a:solidFill>
                <a:srgbClr val="C62828"/>
              </a:solidFill>
              <a:latin typeface="Calibri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589520" y="5074920"/>
            <a:ext cx="4206240" cy="59436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680960" y="5067402"/>
            <a:ext cx="4023360" cy="60939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b="1" dirty="0">
                <a:solidFill>
                  <a:srgbClr val="2E7D32"/>
                </a:solidFill>
                <a:latin typeface="Calibri"/>
              </a:rPr>
              <a:t>Filter item “</a:t>
            </a:r>
            <a:r>
              <a:rPr b="1" dirty="0" err="1">
                <a:solidFill>
                  <a:srgbClr val="2E7D32"/>
                </a:solidFill>
                <a:latin typeface="Calibri"/>
              </a:rPr>
              <a:t>Pompa</a:t>
            </a:r>
            <a:r>
              <a:rPr b="1" dirty="0">
                <a:solidFill>
                  <a:srgbClr val="2E7D32"/>
                </a:solidFill>
                <a:latin typeface="Calibri"/>
              </a:rPr>
              <a:t> X” → </a:t>
            </a:r>
            <a:r>
              <a:rPr b="1" dirty="0" err="1">
                <a:solidFill>
                  <a:srgbClr val="2E7D32"/>
                </a:solidFill>
                <a:latin typeface="Calibri"/>
              </a:rPr>
              <a:t>semua</a:t>
            </a:r>
            <a:r>
              <a:rPr b="1" dirty="0">
                <a:solidFill>
                  <a:srgbClr val="2E7D32"/>
                </a:solidFill>
                <a:latin typeface="Calibri"/>
              </a:rPr>
              <a:t> record </a:t>
            </a:r>
            <a:r>
              <a:rPr b="1" dirty="0" err="1">
                <a:solidFill>
                  <a:srgbClr val="2E7D32"/>
                </a:solidFill>
                <a:latin typeface="Calibri"/>
              </a:rPr>
              <a:t>muncul</a:t>
            </a:r>
            <a:endParaRPr b="1" dirty="0">
              <a:solidFill>
                <a:srgbClr val="2E7D32"/>
              </a:solidFill>
              <a:latin typeface="Calibr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48640" y="5882180"/>
            <a:ext cx="1106424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1" dirty="0" err="1">
                <a:latin typeface="Calibri"/>
              </a:rPr>
              <a:t>Kolom</a:t>
            </a:r>
            <a:r>
              <a:rPr sz="1600" b="1" dirty="0">
                <a:latin typeface="Calibri"/>
              </a:rPr>
              <a:t> “</a:t>
            </a:r>
            <a:r>
              <a:rPr sz="1600" b="1" dirty="0" err="1">
                <a:latin typeface="Calibri"/>
              </a:rPr>
              <a:t>Sebelum</a:t>
            </a:r>
            <a:r>
              <a:rPr sz="1600" b="1" dirty="0">
                <a:latin typeface="Calibri"/>
              </a:rPr>
              <a:t>” (</a:t>
            </a:r>
            <a:r>
              <a:rPr sz="1600" b="1" dirty="0" err="1">
                <a:latin typeface="Calibri"/>
              </a:rPr>
              <a:t>merah</a:t>
            </a:r>
            <a:r>
              <a:rPr sz="1600" b="1" dirty="0">
                <a:latin typeface="Calibri"/>
              </a:rPr>
              <a:t>) = proses manual </a:t>
            </a:r>
            <a:r>
              <a:rPr sz="1600" b="1" dirty="0" err="1">
                <a:latin typeface="Calibri"/>
              </a:rPr>
              <a:t>saat</a:t>
            </a:r>
            <a:r>
              <a:rPr sz="1600" b="1" dirty="0">
                <a:latin typeface="Calibri"/>
              </a:rPr>
              <a:t> </a:t>
            </a:r>
            <a:r>
              <a:rPr sz="1600" b="1" dirty="0" err="1">
                <a:latin typeface="Calibri"/>
              </a:rPr>
              <a:t>ini</a:t>
            </a:r>
            <a:r>
              <a:rPr sz="1600" b="1" dirty="0">
                <a:latin typeface="Calibri"/>
              </a:rPr>
              <a:t>  •  </a:t>
            </a:r>
            <a:r>
              <a:rPr sz="1600" b="1" dirty="0" err="1">
                <a:latin typeface="Calibri"/>
              </a:rPr>
              <a:t>Kolom</a:t>
            </a:r>
            <a:r>
              <a:rPr sz="1600" b="1" dirty="0">
                <a:latin typeface="Calibri"/>
              </a:rPr>
              <a:t> “</a:t>
            </a:r>
            <a:r>
              <a:rPr sz="1600" b="1" dirty="0" err="1">
                <a:latin typeface="Calibri"/>
              </a:rPr>
              <a:t>Sesudah</a:t>
            </a:r>
            <a:r>
              <a:rPr sz="1600" b="1" dirty="0">
                <a:latin typeface="Calibri"/>
              </a:rPr>
              <a:t>” (</a:t>
            </a:r>
            <a:r>
              <a:rPr sz="1600" b="1" dirty="0" err="1">
                <a:latin typeface="Calibri"/>
              </a:rPr>
              <a:t>hijau</a:t>
            </a:r>
            <a:r>
              <a:rPr sz="1600" b="1" dirty="0">
                <a:latin typeface="Calibri"/>
              </a:rPr>
              <a:t>) = proses </a:t>
            </a:r>
            <a:r>
              <a:rPr sz="1600" b="1" dirty="0" err="1">
                <a:latin typeface="Calibri"/>
              </a:rPr>
              <a:t>dengan</a:t>
            </a:r>
            <a:r>
              <a:rPr sz="1600" b="1" dirty="0">
                <a:latin typeface="Calibri"/>
              </a:rPr>
              <a:t> </a:t>
            </a:r>
            <a:r>
              <a:rPr sz="1600" b="1" dirty="0" err="1">
                <a:latin typeface="Calibri"/>
              </a:rPr>
              <a:t>PowerOps</a:t>
            </a:r>
            <a:endParaRPr sz="1600" b="1" dirty="0"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ardrop 2"/>
          <p:cNvSpPr/>
          <p:nvPr/>
        </p:nvSpPr>
        <p:spPr>
          <a:xfrm rot="19800000">
            <a:off x="11475720" y="228600"/>
            <a:ext cx="411480" cy="411480"/>
          </a:xfrm>
          <a:prstGeom prst="teardrop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ardrop 3"/>
          <p:cNvSpPr/>
          <p:nvPr/>
        </p:nvSpPr>
        <p:spPr>
          <a:xfrm rot="19800000">
            <a:off x="11201400" y="411480"/>
            <a:ext cx="320040" cy="320040"/>
          </a:xfrm>
          <a:prstGeom prst="teardrop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dirty="0" err="1">
                <a:solidFill>
                  <a:srgbClr val="1B5E20"/>
                </a:solidFill>
                <a:latin typeface="Calibri"/>
              </a:rPr>
              <a:t>Dampak</a:t>
            </a:r>
            <a:r>
              <a:rPr sz="2800" b="1" dirty="0">
                <a:solidFill>
                  <a:srgbClr val="1B5E20"/>
                </a:solidFill>
                <a:latin typeface="Calibri"/>
              </a:rPr>
              <a:t> &amp; </a:t>
            </a:r>
            <a:r>
              <a:rPr sz="2800" b="1" dirty="0" err="1">
                <a:solidFill>
                  <a:srgbClr val="1B5E20"/>
                </a:solidFill>
                <a:latin typeface="Calibri"/>
              </a:rPr>
              <a:t>Manfaat</a:t>
            </a:r>
            <a:endParaRPr sz="2800" b="1" dirty="0">
              <a:solidFill>
                <a:srgbClr val="1B5E2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2608" y="855032"/>
            <a:ext cx="960120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 dirty="0" err="1">
                <a:latin typeface="Calibri"/>
              </a:rPr>
              <a:t>Estimasi</a:t>
            </a:r>
            <a:r>
              <a:rPr sz="2000" b="1" dirty="0">
                <a:latin typeface="Calibri"/>
              </a:rPr>
              <a:t> </a:t>
            </a:r>
            <a:r>
              <a:rPr sz="2000" b="1" dirty="0" err="1">
                <a:latin typeface="Calibri"/>
              </a:rPr>
              <a:t>konservatif</a:t>
            </a:r>
            <a:r>
              <a:rPr sz="2000" b="1" dirty="0">
                <a:latin typeface="Calibri"/>
              </a:rPr>
              <a:t> — </a:t>
            </a:r>
            <a:r>
              <a:rPr sz="2000" b="1" dirty="0" err="1">
                <a:latin typeface="Calibri"/>
              </a:rPr>
              <a:t>validasi</a:t>
            </a:r>
            <a:r>
              <a:rPr sz="2000" b="1" dirty="0">
                <a:latin typeface="Calibri"/>
              </a:rPr>
              <a:t> </a:t>
            </a:r>
            <a:r>
              <a:rPr sz="2000" b="1" dirty="0" err="1">
                <a:latin typeface="Calibri"/>
              </a:rPr>
              <a:t>dengan</a:t>
            </a:r>
            <a:r>
              <a:rPr sz="2000" b="1" dirty="0">
                <a:latin typeface="Calibri"/>
              </a:rPr>
              <a:t> data </a:t>
            </a:r>
            <a:r>
              <a:rPr sz="2000" b="1" dirty="0" err="1">
                <a:latin typeface="Calibri"/>
              </a:rPr>
              <a:t>aktual</a:t>
            </a:r>
            <a:r>
              <a:rPr sz="2000" b="1" dirty="0">
                <a:latin typeface="Calibri"/>
              </a:rPr>
              <a:t> </a:t>
            </a:r>
            <a:r>
              <a:rPr sz="2000" b="1" dirty="0" err="1">
                <a:latin typeface="Calibri"/>
              </a:rPr>
              <a:t>lapangan</a:t>
            </a:r>
            <a:endParaRPr sz="2000" b="1" dirty="0"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6336000" cy="4445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dirty="0" smtClean="0">
                <a:solidFill>
                  <a:srgbClr val="5C6B63"/>
                </a:solidFill>
                <a:latin typeface="Calibri"/>
              </a:rPr>
              <a:t>11 </a:t>
            </a:r>
            <a:r>
              <a:rPr sz="1000" b="0" dirty="0">
                <a:solidFill>
                  <a:srgbClr val="5C6B63"/>
                </a:solidFill>
                <a:latin typeface="Calibri"/>
              </a:rPr>
              <a:t>/ </a:t>
            </a:r>
            <a:r>
              <a:rPr sz="1000" b="0" dirty="0" smtClean="0">
                <a:solidFill>
                  <a:srgbClr val="5C6B63"/>
                </a:solidFill>
                <a:latin typeface="Calibri"/>
              </a:rPr>
              <a:t>14</a:t>
            </a:r>
            <a:endParaRPr sz="1000" b="0" dirty="0">
              <a:solidFill>
                <a:srgbClr val="5C6B63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PowerOps  •  Inovasi Digital UBB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600200"/>
            <a:ext cx="2715768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1600200"/>
            <a:ext cx="2715768" cy="1371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874520"/>
            <a:ext cx="2441448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4400" b="1" dirty="0">
                <a:solidFill>
                  <a:srgbClr val="2E7D32"/>
                </a:solidFill>
                <a:latin typeface="Calibri"/>
              </a:rPr>
              <a:t>~30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10816"/>
            <a:ext cx="2441448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1" dirty="0" err="1">
                <a:solidFill>
                  <a:srgbClr val="1B5E20"/>
                </a:solidFill>
                <a:latin typeface="Calibri"/>
              </a:rPr>
              <a:t>menit</a:t>
            </a:r>
            <a:r>
              <a:rPr sz="1600" b="1" dirty="0">
                <a:solidFill>
                  <a:srgbClr val="1B5E20"/>
                </a:solidFill>
                <a:latin typeface="Calibri"/>
              </a:rPr>
              <a:t>/shift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71800"/>
            <a:ext cx="2441448" cy="22467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1" dirty="0" err="1">
                <a:latin typeface="Calibri"/>
              </a:rPr>
              <a:t>hemat</a:t>
            </a:r>
            <a:r>
              <a:rPr sz="1100" b="1" dirty="0">
                <a:latin typeface="Calibri"/>
              </a:rPr>
              <a:t> </a:t>
            </a:r>
            <a:r>
              <a:rPr sz="1100" b="1" dirty="0" err="1">
                <a:latin typeface="Calibri"/>
              </a:rPr>
              <a:t>dari</a:t>
            </a:r>
            <a:r>
              <a:rPr sz="1100" b="1" dirty="0">
                <a:latin typeface="Calibri"/>
              </a:rPr>
              <a:t> </a:t>
            </a:r>
            <a:r>
              <a:rPr sz="1100" b="1" dirty="0" err="1">
                <a:latin typeface="Calibri"/>
              </a:rPr>
              <a:t>tidak</a:t>
            </a:r>
            <a:r>
              <a:rPr sz="1100" b="1" dirty="0">
                <a:latin typeface="Calibri"/>
              </a:rPr>
              <a:t> </a:t>
            </a:r>
            <a:r>
              <a:rPr sz="1100" b="1" dirty="0" err="1">
                <a:latin typeface="Calibri"/>
              </a:rPr>
              <a:t>ketik</a:t>
            </a:r>
            <a:r>
              <a:rPr sz="1100" b="1" dirty="0">
                <a:latin typeface="Calibri"/>
              </a:rPr>
              <a:t> </a:t>
            </a:r>
            <a:r>
              <a:rPr sz="1100" b="1" dirty="0" err="1">
                <a:latin typeface="Calibri"/>
              </a:rPr>
              <a:t>ulang</a:t>
            </a:r>
            <a:r>
              <a:rPr sz="1100" b="1" dirty="0">
                <a:latin typeface="Calibri"/>
              </a:rPr>
              <a:t> </a:t>
            </a:r>
            <a:r>
              <a:rPr sz="1100" b="1" dirty="0" err="1">
                <a:latin typeface="Calibri"/>
              </a:rPr>
              <a:t>laporan</a:t>
            </a:r>
            <a:endParaRPr sz="1100" b="1" dirty="0"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374136" y="1600200"/>
            <a:ext cx="2715768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74136" y="1600200"/>
            <a:ext cx="2715768" cy="13716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11296" y="1874520"/>
            <a:ext cx="2441448" cy="7325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4400" b="1" dirty="0" smtClean="0">
                <a:solidFill>
                  <a:srgbClr val="1B5E20"/>
                </a:solidFill>
                <a:latin typeface="Calibri"/>
              </a:rPr>
              <a:t>~</a:t>
            </a:r>
            <a:r>
              <a:rPr sz="4400" b="1" dirty="0">
                <a:solidFill>
                  <a:srgbClr val="1B5E20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1296" y="2610816"/>
            <a:ext cx="2441448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1" dirty="0">
                <a:solidFill>
                  <a:srgbClr val="1B5E20"/>
                </a:solidFill>
                <a:latin typeface="Calibri"/>
              </a:rPr>
              <a:t>jam/</a:t>
            </a:r>
            <a:r>
              <a:rPr sz="1600" b="1" dirty="0" err="1">
                <a:solidFill>
                  <a:srgbClr val="1B5E20"/>
                </a:solidFill>
                <a:latin typeface="Calibri"/>
              </a:rPr>
              <a:t>hari</a:t>
            </a:r>
            <a:endParaRPr sz="1600" b="1" dirty="0">
              <a:solidFill>
                <a:srgbClr val="1B5E20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782357" y="2908725"/>
            <a:ext cx="2036485" cy="39395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1" dirty="0" err="1">
                <a:latin typeface="Calibri"/>
              </a:rPr>
              <a:t>akumulasi</a:t>
            </a:r>
            <a:r>
              <a:rPr sz="1100" b="1" dirty="0">
                <a:latin typeface="Calibri"/>
              </a:rPr>
              <a:t> </a:t>
            </a:r>
            <a:r>
              <a:rPr sz="1100" b="1" dirty="0" err="1" smtClean="0">
                <a:latin typeface="Calibri"/>
              </a:rPr>
              <a:t>laporan</a:t>
            </a:r>
            <a:r>
              <a:rPr sz="1100" b="1" dirty="0" smtClean="0">
                <a:latin typeface="Calibri"/>
              </a:rPr>
              <a:t> 3 </a:t>
            </a:r>
            <a:r>
              <a:rPr sz="1100" b="1" dirty="0">
                <a:latin typeface="Calibri"/>
              </a:rPr>
              <a:t>shift </a:t>
            </a:r>
            <a:r>
              <a:rPr sz="1100" b="1" dirty="0" smtClean="0">
                <a:latin typeface="Calibri"/>
              </a:rPr>
              <a:t>&amp; </a:t>
            </a:r>
            <a:r>
              <a:rPr sz="1100" b="1" dirty="0" err="1" smtClean="0">
                <a:latin typeface="Calibri"/>
              </a:rPr>
              <a:t>laporan</a:t>
            </a:r>
            <a:r>
              <a:rPr sz="1100" b="1" dirty="0" smtClean="0">
                <a:latin typeface="Calibri"/>
              </a:rPr>
              <a:t> </a:t>
            </a:r>
            <a:r>
              <a:rPr sz="1100" b="1" dirty="0" err="1" smtClean="0">
                <a:latin typeface="Calibri"/>
              </a:rPr>
              <a:t>harian</a:t>
            </a:r>
            <a:endParaRPr sz="1100" b="1" dirty="0"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99632" y="1600200"/>
            <a:ext cx="2715768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9632" y="1600200"/>
            <a:ext cx="2715768" cy="137160"/>
          </a:xfrm>
          <a:prstGeom prst="rect">
            <a:avLst/>
          </a:prstGeom>
          <a:solidFill>
            <a:srgbClr val="8D6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6792" y="1874520"/>
            <a:ext cx="2441448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4400" b="1">
                <a:solidFill>
                  <a:srgbClr val="8D6E63"/>
                </a:solidFill>
                <a:latin typeface="Calibri"/>
              </a:rPr>
              <a:t>~12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2610816"/>
            <a:ext cx="2441448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1" dirty="0" err="1">
                <a:solidFill>
                  <a:srgbClr val="1B5E20"/>
                </a:solidFill>
                <a:latin typeface="Calibri"/>
              </a:rPr>
              <a:t>panggilan</a:t>
            </a:r>
            <a:r>
              <a:rPr sz="1600" b="1" dirty="0">
                <a:solidFill>
                  <a:srgbClr val="1B5E20"/>
                </a:solidFill>
                <a:latin typeface="Calibri"/>
              </a:rPr>
              <a:t> HT/</a:t>
            </a:r>
            <a:r>
              <a:rPr sz="1600" b="1" dirty="0" err="1">
                <a:solidFill>
                  <a:srgbClr val="1B5E20"/>
                </a:solidFill>
                <a:latin typeface="Calibri"/>
              </a:rPr>
              <a:t>hari</a:t>
            </a:r>
            <a:endParaRPr sz="1600" b="1" dirty="0">
              <a:solidFill>
                <a:srgbClr val="1B5E20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36792" y="2971800"/>
            <a:ext cx="2441448" cy="22467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1" dirty="0" err="1">
                <a:latin typeface="Calibri"/>
              </a:rPr>
              <a:t>hilang</a:t>
            </a:r>
            <a:r>
              <a:rPr sz="1100" b="1" dirty="0">
                <a:latin typeface="Calibri"/>
              </a:rPr>
              <a:t> — </a:t>
            </a:r>
            <a:r>
              <a:rPr sz="1100" b="1" dirty="0" err="1">
                <a:latin typeface="Calibri"/>
              </a:rPr>
              <a:t>jalur</a:t>
            </a:r>
            <a:r>
              <a:rPr sz="1100" b="1" dirty="0">
                <a:latin typeface="Calibri"/>
              </a:rPr>
              <a:t> </a:t>
            </a:r>
            <a:r>
              <a:rPr sz="1100" b="1" dirty="0" smtClean="0">
                <a:latin typeface="Calibri"/>
              </a:rPr>
              <a:t>radio/HT </a:t>
            </a:r>
            <a:r>
              <a:rPr sz="1100" b="1" dirty="0" err="1">
                <a:latin typeface="Calibri"/>
              </a:rPr>
              <a:t>lebih</a:t>
            </a:r>
            <a:r>
              <a:rPr sz="1100" b="1" dirty="0">
                <a:latin typeface="Calibri"/>
              </a:rPr>
              <a:t> </a:t>
            </a:r>
            <a:r>
              <a:rPr sz="1100" b="1" dirty="0" err="1">
                <a:latin typeface="Calibri"/>
              </a:rPr>
              <a:t>senggang</a:t>
            </a:r>
            <a:endParaRPr sz="1100" b="1" dirty="0">
              <a:latin typeface="Calibr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25128" y="1600200"/>
            <a:ext cx="2715768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25128" y="1600200"/>
            <a:ext cx="2715768" cy="13716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62288" y="1874520"/>
            <a:ext cx="2441448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4400" b="1">
                <a:solidFill>
                  <a:srgbClr val="F9A825"/>
                </a:solidFill>
                <a:latin typeface="Calibri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2288" y="2610816"/>
            <a:ext cx="2441448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1" dirty="0" err="1">
                <a:solidFill>
                  <a:srgbClr val="1B5E20"/>
                </a:solidFill>
                <a:latin typeface="Calibri"/>
              </a:rPr>
              <a:t>biaya</a:t>
            </a:r>
            <a:r>
              <a:rPr sz="1600" b="1" dirty="0">
                <a:solidFill>
                  <a:srgbClr val="1B5E20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B5E20"/>
                </a:solidFill>
                <a:latin typeface="Calibri"/>
              </a:rPr>
              <a:t>lisensi</a:t>
            </a:r>
            <a:endParaRPr sz="1600" b="1" dirty="0">
              <a:solidFill>
                <a:srgbClr val="1B5E20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162288" y="2971800"/>
            <a:ext cx="2441448" cy="22467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1" dirty="0">
                <a:latin typeface="Calibri"/>
              </a:rPr>
              <a:t>stack open source, tier </a:t>
            </a:r>
            <a:r>
              <a:rPr sz="1100" b="1" dirty="0" smtClean="0">
                <a:latin typeface="Calibri"/>
              </a:rPr>
              <a:t>gratis.</a:t>
            </a:r>
            <a:endParaRPr sz="1100" b="1" dirty="0">
              <a:latin typeface="Calibri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48640" y="3611880"/>
            <a:ext cx="3685032" cy="27432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9525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" y="3749040"/>
            <a:ext cx="3227832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 dirty="0" err="1">
                <a:solidFill>
                  <a:srgbClr val="1B5E20"/>
                </a:solidFill>
                <a:latin typeface="Calibri"/>
              </a:rPr>
              <a:t>Kualitas</a:t>
            </a:r>
            <a:r>
              <a:rPr sz="2000" b="1" dirty="0">
                <a:solidFill>
                  <a:srgbClr val="1B5E20"/>
                </a:solidFill>
                <a:latin typeface="Calibri"/>
              </a:rPr>
              <a:t> Data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4206240"/>
            <a:ext cx="457200" cy="3175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4343400"/>
            <a:ext cx="3227832" cy="15696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latin typeface="Calibri"/>
              </a:rPr>
              <a:t>●  </a:t>
            </a:r>
            <a:r>
              <a:rPr sz="1600" dirty="0">
                <a:latin typeface="Calibri"/>
              </a:rPr>
              <a:t>Auto-</a:t>
            </a:r>
            <a:r>
              <a:rPr sz="1600" dirty="0" err="1">
                <a:latin typeface="Calibri"/>
              </a:rPr>
              <a:t>calc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hilangkan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salah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hitung</a:t>
            </a:r>
            <a:r>
              <a:rPr sz="1600" dirty="0">
                <a:latin typeface="Calibri"/>
              </a:rPr>
              <a:t> manual</a:t>
            </a:r>
          </a:p>
          <a:p>
            <a:pPr algn="l">
              <a:lnSpc>
                <a:spcPct val="120000"/>
              </a:lnSpc>
            </a:pPr>
            <a:r>
              <a:rPr sz="1600" b="1" dirty="0">
                <a:latin typeface="Calibri"/>
              </a:rPr>
              <a:t>●  </a:t>
            </a:r>
            <a:r>
              <a:rPr sz="1600" dirty="0">
                <a:latin typeface="Calibri"/>
              </a:rPr>
              <a:t>100% history digital → audit </a:t>
            </a:r>
            <a:r>
              <a:rPr sz="1600" dirty="0" err="1">
                <a:latin typeface="Calibri"/>
              </a:rPr>
              <a:t>cepat</a:t>
            </a:r>
            <a:endParaRPr sz="1600" dirty="0">
              <a:latin typeface="Calibri"/>
            </a:endParaRPr>
          </a:p>
          <a:p>
            <a:pPr algn="l">
              <a:lnSpc>
                <a:spcPct val="120000"/>
              </a:lnSpc>
            </a:pPr>
            <a:r>
              <a:rPr sz="1600" b="1" dirty="0">
                <a:latin typeface="Calibri"/>
              </a:rPr>
              <a:t>●  </a:t>
            </a:r>
            <a:r>
              <a:rPr sz="1600" dirty="0">
                <a:latin typeface="Calibri"/>
              </a:rPr>
              <a:t>Single source of truth — </a:t>
            </a:r>
            <a:r>
              <a:rPr sz="1600" dirty="0" err="1">
                <a:latin typeface="Calibri"/>
              </a:rPr>
              <a:t>tidak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ada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versi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bentrok</a:t>
            </a:r>
            <a:endParaRPr sz="1600" dirty="0">
              <a:latin typeface="Calibri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343400" y="3611880"/>
            <a:ext cx="3685032" cy="27432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9525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0" y="3749040"/>
            <a:ext cx="3227832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 dirty="0" err="1">
                <a:solidFill>
                  <a:srgbClr val="1B5E20"/>
                </a:solidFill>
                <a:latin typeface="Calibri"/>
              </a:rPr>
              <a:t>Respons</a:t>
            </a:r>
            <a:r>
              <a:rPr sz="2000" b="1" dirty="0">
                <a:solidFill>
                  <a:srgbClr val="1B5E20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1B5E20"/>
                </a:solidFill>
                <a:latin typeface="Calibri"/>
              </a:rPr>
              <a:t>Operasional</a:t>
            </a:r>
            <a:endParaRPr sz="2000" b="1" dirty="0">
              <a:solidFill>
                <a:srgbClr val="1B5E20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572000" y="4206240"/>
            <a:ext cx="457200" cy="3175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0" y="4343400"/>
            <a:ext cx="3227832" cy="186512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latin typeface="Calibri"/>
              </a:rPr>
              <a:t>●  </a:t>
            </a:r>
            <a:r>
              <a:rPr sz="1600" dirty="0" err="1">
                <a:latin typeface="Calibri"/>
              </a:rPr>
              <a:t>Manajemen</a:t>
            </a:r>
            <a:r>
              <a:rPr sz="1600" dirty="0">
                <a:latin typeface="Calibri"/>
              </a:rPr>
              <a:t> &amp; CCR </a:t>
            </a:r>
            <a:r>
              <a:rPr sz="1600" dirty="0" err="1">
                <a:latin typeface="Calibri"/>
              </a:rPr>
              <a:t>lihat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realtime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kapan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saja</a:t>
            </a:r>
            <a:endParaRPr sz="1600" dirty="0">
              <a:latin typeface="Calibri"/>
            </a:endParaRPr>
          </a:p>
          <a:p>
            <a:pPr algn="l">
              <a:lnSpc>
                <a:spcPct val="120000"/>
              </a:lnSpc>
            </a:pPr>
            <a:r>
              <a:rPr sz="1600" b="1" dirty="0">
                <a:latin typeface="Calibri"/>
              </a:rPr>
              <a:t>●  </a:t>
            </a:r>
            <a:r>
              <a:rPr sz="1600" dirty="0">
                <a:latin typeface="Calibri"/>
              </a:rPr>
              <a:t>Abnormal </a:t>
            </a:r>
            <a:r>
              <a:rPr sz="1600" dirty="0" err="1">
                <a:latin typeface="Calibri"/>
              </a:rPr>
              <a:t>tanki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terdeteksi</a:t>
            </a:r>
            <a:r>
              <a:rPr sz="1600" dirty="0">
                <a:latin typeface="Calibri"/>
              </a:rPr>
              <a:t> via status </a:t>
            </a:r>
            <a:r>
              <a:rPr sz="1600" dirty="0" err="1">
                <a:latin typeface="Calibri"/>
              </a:rPr>
              <a:t>warna</a:t>
            </a:r>
            <a:endParaRPr sz="1600" dirty="0">
              <a:latin typeface="Calibri"/>
            </a:endParaRPr>
          </a:p>
          <a:p>
            <a:pPr algn="l">
              <a:lnSpc>
                <a:spcPct val="120000"/>
              </a:lnSpc>
            </a:pPr>
            <a:r>
              <a:rPr sz="1600" b="1" dirty="0">
                <a:latin typeface="Calibri"/>
              </a:rPr>
              <a:t>●  </a:t>
            </a:r>
            <a:r>
              <a:rPr sz="1600" dirty="0" err="1">
                <a:latin typeface="Calibri"/>
              </a:rPr>
              <a:t>Notifikasi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WhatsApp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untuk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kondisi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kritis</a:t>
            </a:r>
            <a:endParaRPr sz="1600" dirty="0">
              <a:latin typeface="Calibri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138160" y="3611880"/>
            <a:ext cx="3685032" cy="27432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9525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66760" y="3749040"/>
            <a:ext cx="3227832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 dirty="0">
                <a:solidFill>
                  <a:srgbClr val="1B5E20"/>
                </a:solidFill>
                <a:latin typeface="Calibri"/>
              </a:rPr>
              <a:t>Tata </a:t>
            </a:r>
            <a:r>
              <a:rPr sz="2000" b="1" dirty="0" err="1">
                <a:solidFill>
                  <a:srgbClr val="1B5E20"/>
                </a:solidFill>
                <a:latin typeface="Calibri"/>
              </a:rPr>
              <a:t>Kelola</a:t>
            </a:r>
            <a:r>
              <a:rPr sz="2000" b="1" dirty="0">
                <a:solidFill>
                  <a:srgbClr val="1B5E20"/>
                </a:solidFill>
                <a:latin typeface="Calibri"/>
              </a:rPr>
              <a:t> Maintenance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66760" y="4206240"/>
            <a:ext cx="457200" cy="3175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66760" y="4343400"/>
            <a:ext cx="3227832" cy="15696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latin typeface="Calibri"/>
              </a:rPr>
              <a:t>●  </a:t>
            </a:r>
            <a:r>
              <a:rPr sz="1600" dirty="0">
                <a:latin typeface="Calibri"/>
              </a:rPr>
              <a:t>History </a:t>
            </a:r>
            <a:r>
              <a:rPr sz="1600" dirty="0" err="1">
                <a:latin typeface="Calibri"/>
              </a:rPr>
              <a:t>preventif</a:t>
            </a:r>
            <a:r>
              <a:rPr sz="1600" dirty="0">
                <a:latin typeface="Calibri"/>
              </a:rPr>
              <a:t>/</a:t>
            </a:r>
            <a:r>
              <a:rPr sz="1600" dirty="0" err="1">
                <a:latin typeface="Calibri"/>
              </a:rPr>
              <a:t>modifikasi</a:t>
            </a:r>
            <a:r>
              <a:rPr sz="1600" dirty="0">
                <a:latin typeface="Calibri"/>
              </a:rPr>
              <a:t> per equipment</a:t>
            </a:r>
          </a:p>
          <a:p>
            <a:pPr algn="l">
              <a:lnSpc>
                <a:spcPct val="120000"/>
              </a:lnSpc>
            </a:pPr>
            <a:r>
              <a:rPr sz="1600" b="1" dirty="0">
                <a:latin typeface="Calibri"/>
              </a:rPr>
              <a:t>●  </a:t>
            </a:r>
            <a:r>
              <a:rPr sz="1600" dirty="0" err="1">
                <a:latin typeface="Calibri"/>
              </a:rPr>
              <a:t>Dasar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analisis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keandalan</a:t>
            </a:r>
            <a:r>
              <a:rPr sz="1600" dirty="0">
                <a:latin typeface="Calibri"/>
              </a:rPr>
              <a:t> &amp; root cause</a:t>
            </a:r>
          </a:p>
          <a:p>
            <a:pPr algn="l">
              <a:lnSpc>
                <a:spcPct val="120000"/>
              </a:lnSpc>
            </a:pPr>
            <a:r>
              <a:rPr sz="1600" b="1" dirty="0">
                <a:latin typeface="Calibri"/>
              </a:rPr>
              <a:t>●  </a:t>
            </a:r>
            <a:r>
              <a:rPr sz="1600" dirty="0">
                <a:latin typeface="Calibri"/>
              </a:rPr>
              <a:t>Critical </a:t>
            </a:r>
            <a:r>
              <a:rPr sz="1600" dirty="0" err="1">
                <a:latin typeface="Calibri"/>
              </a:rPr>
              <a:t>tidak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lagi</a:t>
            </a:r>
            <a:r>
              <a:rPr sz="1600" dirty="0">
                <a:latin typeface="Calibri"/>
              </a:rPr>
              <a:t> “</a:t>
            </a:r>
            <a:r>
              <a:rPr sz="1600" dirty="0" err="1">
                <a:latin typeface="Calibri"/>
              </a:rPr>
              <a:t>lupa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ditutup</a:t>
            </a:r>
            <a:r>
              <a:rPr sz="1600" dirty="0">
                <a:latin typeface="Calibri"/>
              </a:rPr>
              <a:t>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ardrop 2"/>
          <p:cNvSpPr/>
          <p:nvPr/>
        </p:nvSpPr>
        <p:spPr>
          <a:xfrm rot="19800000">
            <a:off x="11475720" y="228600"/>
            <a:ext cx="411480" cy="411480"/>
          </a:xfrm>
          <a:prstGeom prst="teardrop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ardrop 3"/>
          <p:cNvSpPr/>
          <p:nvPr/>
        </p:nvSpPr>
        <p:spPr>
          <a:xfrm rot="19800000">
            <a:off x="11201400" y="411480"/>
            <a:ext cx="320040" cy="320040"/>
          </a:xfrm>
          <a:prstGeom prst="teardrop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dirty="0" err="1">
                <a:solidFill>
                  <a:srgbClr val="1B5E20"/>
                </a:solidFill>
                <a:latin typeface="Calibri"/>
              </a:rPr>
              <a:t>Teknologi</a:t>
            </a:r>
            <a:r>
              <a:rPr sz="2800" b="1" dirty="0">
                <a:solidFill>
                  <a:srgbClr val="1B5E20"/>
                </a:solidFill>
                <a:latin typeface="Calibri"/>
              </a:rPr>
              <a:t> yang </a:t>
            </a:r>
            <a:r>
              <a:rPr sz="2800" b="1" dirty="0" err="1">
                <a:solidFill>
                  <a:srgbClr val="1B5E20"/>
                </a:solidFill>
                <a:latin typeface="Calibri"/>
              </a:rPr>
              <a:t>Dipakai</a:t>
            </a:r>
            <a:endParaRPr sz="2800" b="1" dirty="0">
              <a:solidFill>
                <a:srgbClr val="1B5E2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6256" y="882328"/>
            <a:ext cx="960120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 dirty="0">
                <a:latin typeface="Calibri"/>
              </a:rPr>
              <a:t>Stack </a:t>
            </a:r>
            <a:r>
              <a:rPr sz="2000" b="1" dirty="0" smtClean="0">
                <a:latin typeface="Calibri"/>
              </a:rPr>
              <a:t>modern - </a:t>
            </a:r>
            <a:r>
              <a:rPr sz="2000" b="1" dirty="0" err="1" smtClean="0">
                <a:latin typeface="Calibri"/>
              </a:rPr>
              <a:t>mudah</a:t>
            </a:r>
            <a:r>
              <a:rPr sz="2000" b="1" dirty="0" smtClean="0">
                <a:latin typeface="Calibri"/>
              </a:rPr>
              <a:t> </a:t>
            </a:r>
            <a:r>
              <a:rPr sz="2000" b="1" dirty="0" err="1">
                <a:latin typeface="Calibri"/>
              </a:rPr>
              <a:t>dimaintain</a:t>
            </a:r>
            <a:endParaRPr sz="2000" b="1" dirty="0"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564000" cy="4445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dirty="0" smtClean="0">
                <a:solidFill>
                  <a:srgbClr val="5C6B63"/>
                </a:solidFill>
                <a:latin typeface="Calibri"/>
              </a:rPr>
              <a:t>12 </a:t>
            </a:r>
            <a:r>
              <a:rPr sz="1000" b="0" dirty="0">
                <a:solidFill>
                  <a:srgbClr val="5C6B63"/>
                </a:solidFill>
                <a:latin typeface="Calibri"/>
              </a:rPr>
              <a:t>/ </a:t>
            </a:r>
            <a:r>
              <a:rPr sz="1000" b="0" dirty="0" smtClean="0">
                <a:solidFill>
                  <a:srgbClr val="5C6B63"/>
                </a:solidFill>
                <a:latin typeface="Calibri"/>
              </a:rPr>
              <a:t>14</a:t>
            </a:r>
            <a:endParaRPr sz="1000" b="0" dirty="0">
              <a:solidFill>
                <a:srgbClr val="5C6B63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PowerOps  •  Inovasi Digital UBB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600200"/>
            <a:ext cx="2715768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1600200"/>
            <a:ext cx="2715768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670072"/>
            <a:ext cx="2715768" cy="36317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86000"/>
            <a:ext cx="2350008" cy="15881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b="1" dirty="0">
                <a:latin typeface="Calibri"/>
              </a:rPr>
              <a:t>●  </a:t>
            </a:r>
            <a:r>
              <a:rPr dirty="0">
                <a:latin typeface="Calibri"/>
              </a:rPr>
              <a:t>Next.js 16 (React 19)</a:t>
            </a:r>
          </a:p>
          <a:p>
            <a:pPr algn="l">
              <a:lnSpc>
                <a:spcPct val="135000"/>
              </a:lnSpc>
            </a:pPr>
            <a:r>
              <a:rPr b="1" dirty="0">
                <a:latin typeface="Calibri"/>
              </a:rPr>
              <a:t>●  </a:t>
            </a:r>
            <a:r>
              <a:rPr dirty="0" err="1">
                <a:latin typeface="Calibri"/>
              </a:rPr>
              <a:t>TypeScript</a:t>
            </a:r>
            <a:r>
              <a:rPr dirty="0">
                <a:latin typeface="Calibri"/>
              </a:rPr>
              <a:t> 5</a:t>
            </a:r>
          </a:p>
          <a:p>
            <a:pPr algn="l">
              <a:lnSpc>
                <a:spcPct val="135000"/>
              </a:lnSpc>
            </a:pPr>
            <a:r>
              <a:rPr b="1" dirty="0">
                <a:latin typeface="Calibri"/>
              </a:rPr>
              <a:t>●  </a:t>
            </a:r>
            <a:r>
              <a:rPr dirty="0">
                <a:latin typeface="Calibri"/>
              </a:rPr>
              <a:t>Tailwind CSS 4</a:t>
            </a:r>
          </a:p>
          <a:p>
            <a:pPr algn="l">
              <a:lnSpc>
                <a:spcPct val="135000"/>
              </a:lnSpc>
            </a:pPr>
            <a:r>
              <a:rPr b="1" dirty="0">
                <a:latin typeface="Calibri"/>
              </a:rPr>
              <a:t>●  </a:t>
            </a:r>
            <a:r>
              <a:rPr dirty="0" err="1">
                <a:latin typeface="Calibri"/>
              </a:rPr>
              <a:t>Recharts</a:t>
            </a:r>
            <a:r>
              <a:rPr dirty="0">
                <a:latin typeface="Calibri"/>
              </a:rPr>
              <a:t> (</a:t>
            </a:r>
            <a:r>
              <a:rPr dirty="0" err="1">
                <a:latin typeface="Calibri"/>
              </a:rPr>
              <a:t>grafik</a:t>
            </a:r>
            <a:r>
              <a:rPr dirty="0">
                <a:latin typeface="Calibri"/>
              </a:rPr>
              <a:t>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74136" y="1600200"/>
            <a:ext cx="2715768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74136" y="1600200"/>
            <a:ext cx="2715768" cy="5029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74136" y="1670072"/>
            <a:ext cx="2715768" cy="36317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Calibri"/>
              </a:rPr>
              <a:t>Backend &amp;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016" y="2286000"/>
            <a:ext cx="2350008" cy="175432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dirty="0">
                <a:latin typeface="Calibri"/>
              </a:rPr>
              <a:t>●  </a:t>
            </a:r>
            <a:r>
              <a:rPr sz="1600" dirty="0" err="1">
                <a:latin typeface="Calibri"/>
              </a:rPr>
              <a:t>Supabase</a:t>
            </a:r>
            <a:r>
              <a:rPr sz="1600" dirty="0">
                <a:latin typeface="Calibri"/>
              </a:rPr>
              <a:t> (</a:t>
            </a:r>
            <a:r>
              <a:rPr sz="1600" dirty="0" err="1">
                <a:latin typeface="Calibri"/>
              </a:rPr>
              <a:t>PostgreSQL</a:t>
            </a:r>
            <a:r>
              <a:rPr sz="1600" dirty="0">
                <a:latin typeface="Calibri"/>
              </a:rPr>
              <a:t>)</a:t>
            </a:r>
          </a:p>
          <a:p>
            <a:pPr algn="l">
              <a:lnSpc>
                <a:spcPct val="135000"/>
              </a:lnSpc>
            </a:pPr>
            <a:r>
              <a:rPr sz="1600" b="1" dirty="0">
                <a:latin typeface="Calibri"/>
              </a:rPr>
              <a:t>●  </a:t>
            </a:r>
            <a:r>
              <a:rPr sz="1600" dirty="0">
                <a:latin typeface="Calibri"/>
              </a:rPr>
              <a:t>Real-time subscription</a:t>
            </a:r>
          </a:p>
          <a:p>
            <a:pPr algn="l">
              <a:lnSpc>
                <a:spcPct val="135000"/>
              </a:lnSpc>
            </a:pPr>
            <a:r>
              <a:rPr sz="1600" b="1" dirty="0">
                <a:latin typeface="Calibri"/>
              </a:rPr>
              <a:t>●  </a:t>
            </a:r>
            <a:r>
              <a:rPr sz="1600" dirty="0">
                <a:latin typeface="Calibri"/>
              </a:rPr>
              <a:t>Role-based access control</a:t>
            </a:r>
          </a:p>
          <a:p>
            <a:pPr algn="l">
              <a:lnSpc>
                <a:spcPct val="135000"/>
              </a:lnSpc>
            </a:pPr>
            <a:r>
              <a:rPr sz="1600" b="1" dirty="0">
                <a:latin typeface="Calibri"/>
              </a:rPr>
              <a:t>●  </a:t>
            </a:r>
            <a:r>
              <a:rPr sz="1600" dirty="0">
                <a:latin typeface="Calibri"/>
              </a:rPr>
              <a:t>Server-Side Rendering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1600200"/>
            <a:ext cx="2715768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99632" y="1600200"/>
            <a:ext cx="2715768" cy="502920"/>
          </a:xfrm>
          <a:prstGeom prst="rect">
            <a:avLst/>
          </a:prstGeom>
          <a:solidFill>
            <a:srgbClr val="8D6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99632" y="1670072"/>
            <a:ext cx="2715768" cy="36317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 dirty="0" err="1">
                <a:solidFill>
                  <a:srgbClr val="FFFFFF"/>
                </a:solidFill>
                <a:latin typeface="Calibri"/>
              </a:rPr>
              <a:t>Integrasi</a:t>
            </a:r>
            <a:endParaRPr sz="2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82512" y="2286000"/>
            <a:ext cx="2350008" cy="175432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dirty="0">
                <a:latin typeface="Calibri"/>
              </a:rPr>
              <a:t>●  </a:t>
            </a:r>
            <a:r>
              <a:rPr sz="1600" dirty="0">
                <a:latin typeface="Calibri"/>
              </a:rPr>
              <a:t>Google Sheets API (sync)</a:t>
            </a:r>
          </a:p>
          <a:p>
            <a:pPr algn="l">
              <a:lnSpc>
                <a:spcPct val="135000"/>
              </a:lnSpc>
            </a:pPr>
            <a:r>
              <a:rPr sz="1600" b="1" dirty="0">
                <a:latin typeface="Calibri"/>
              </a:rPr>
              <a:t>●  </a:t>
            </a:r>
            <a:r>
              <a:rPr sz="1600" dirty="0">
                <a:latin typeface="Calibri"/>
              </a:rPr>
              <a:t>AWS S3 (file </a:t>
            </a:r>
            <a:r>
              <a:rPr sz="1600" dirty="0" err="1">
                <a:latin typeface="Calibri"/>
              </a:rPr>
              <a:t>lampiran</a:t>
            </a:r>
            <a:r>
              <a:rPr sz="1600" dirty="0">
                <a:latin typeface="Calibri"/>
              </a:rPr>
              <a:t>)</a:t>
            </a:r>
          </a:p>
          <a:p>
            <a:pPr algn="l">
              <a:lnSpc>
                <a:spcPct val="135000"/>
              </a:lnSpc>
            </a:pPr>
            <a:r>
              <a:rPr sz="1600" b="1" dirty="0">
                <a:latin typeface="Calibri"/>
              </a:rPr>
              <a:t>●  </a:t>
            </a:r>
            <a:r>
              <a:rPr sz="1600" dirty="0" err="1">
                <a:latin typeface="Calibri"/>
              </a:rPr>
              <a:t>WhatsApp</a:t>
            </a:r>
            <a:r>
              <a:rPr sz="1600" dirty="0">
                <a:latin typeface="Calibri"/>
              </a:rPr>
              <a:t> (</a:t>
            </a:r>
            <a:r>
              <a:rPr sz="1600" dirty="0" err="1">
                <a:latin typeface="Calibri"/>
              </a:rPr>
              <a:t>notifikasi</a:t>
            </a:r>
            <a:r>
              <a:rPr sz="1600" dirty="0">
                <a:latin typeface="Calibri"/>
              </a:rPr>
              <a:t>)</a:t>
            </a:r>
          </a:p>
          <a:p>
            <a:pPr algn="l">
              <a:lnSpc>
                <a:spcPct val="135000"/>
              </a:lnSpc>
            </a:pPr>
            <a:r>
              <a:rPr sz="1600" b="1" dirty="0">
                <a:latin typeface="Calibri"/>
              </a:rPr>
              <a:t>●  </a:t>
            </a:r>
            <a:r>
              <a:rPr sz="1600" dirty="0" err="1">
                <a:latin typeface="Calibri"/>
              </a:rPr>
              <a:t>Auth</a:t>
            </a:r>
            <a:r>
              <a:rPr sz="1600" dirty="0">
                <a:latin typeface="Calibri"/>
              </a:rPr>
              <a:t> operator (</a:t>
            </a:r>
            <a:r>
              <a:rPr sz="1600" dirty="0" err="1">
                <a:latin typeface="Calibri"/>
              </a:rPr>
              <a:t>grup</a:t>
            </a:r>
            <a:r>
              <a:rPr sz="1600" dirty="0">
                <a:latin typeface="Calibri"/>
              </a:rPr>
              <a:t> A/B/C/D)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25128" y="1600200"/>
            <a:ext cx="2715768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25128" y="1600200"/>
            <a:ext cx="2715768" cy="50292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25128" y="1670072"/>
            <a:ext cx="2715768" cy="36317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 dirty="0" err="1">
                <a:solidFill>
                  <a:srgbClr val="FFFFFF"/>
                </a:solidFill>
                <a:latin typeface="Calibri"/>
              </a:rPr>
              <a:t>Akses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 &amp; Deploy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008" y="2286000"/>
            <a:ext cx="2350008" cy="147431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dirty="0">
                <a:latin typeface="Calibri"/>
              </a:rPr>
              <a:t>●  </a:t>
            </a:r>
            <a:r>
              <a:rPr sz="1700" dirty="0">
                <a:latin typeface="Calibri"/>
              </a:rPr>
              <a:t>Web browser </a:t>
            </a:r>
            <a:r>
              <a:rPr sz="1700" dirty="0" err="1">
                <a:latin typeface="Calibri"/>
              </a:rPr>
              <a:t>apa</a:t>
            </a:r>
            <a:r>
              <a:rPr sz="1700" dirty="0">
                <a:latin typeface="Calibri"/>
              </a:rPr>
              <a:t> </a:t>
            </a:r>
            <a:r>
              <a:rPr sz="1700" dirty="0" err="1">
                <a:latin typeface="Calibri"/>
              </a:rPr>
              <a:t>saja</a:t>
            </a:r>
            <a:endParaRPr sz="1700" dirty="0">
              <a:latin typeface="Calibri"/>
            </a:endParaRPr>
          </a:p>
          <a:p>
            <a:pPr algn="l">
              <a:lnSpc>
                <a:spcPct val="135000"/>
              </a:lnSpc>
            </a:pPr>
            <a:r>
              <a:rPr sz="1700" b="1" dirty="0">
                <a:latin typeface="Calibri"/>
              </a:rPr>
              <a:t>●  </a:t>
            </a:r>
            <a:r>
              <a:rPr sz="1700" dirty="0">
                <a:latin typeface="Calibri"/>
              </a:rPr>
              <a:t>Desktop CCR, HP mobile</a:t>
            </a:r>
          </a:p>
          <a:p>
            <a:pPr algn="l">
              <a:lnSpc>
                <a:spcPct val="135000"/>
              </a:lnSpc>
            </a:pPr>
            <a:r>
              <a:rPr sz="1700" b="1" dirty="0">
                <a:latin typeface="Calibri"/>
              </a:rPr>
              <a:t>●  </a:t>
            </a:r>
            <a:r>
              <a:rPr sz="1700" dirty="0">
                <a:latin typeface="Calibri"/>
              </a:rPr>
              <a:t>Hosting </a:t>
            </a:r>
            <a:r>
              <a:rPr sz="1700" dirty="0" err="1" smtClean="0">
                <a:latin typeface="Calibri"/>
              </a:rPr>
              <a:t>Vercel</a:t>
            </a:r>
            <a:endParaRPr sz="1700" dirty="0">
              <a:latin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9525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5784872"/>
            <a:ext cx="11064240" cy="36317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 dirty="0">
                <a:solidFill>
                  <a:srgbClr val="1B5E20"/>
                </a:solidFill>
                <a:latin typeface="Calibri"/>
              </a:rPr>
              <a:t>Source code &amp; </a:t>
            </a:r>
            <a:r>
              <a:rPr sz="2000" b="1" dirty="0" err="1">
                <a:solidFill>
                  <a:srgbClr val="1B5E20"/>
                </a:solidFill>
                <a:latin typeface="Calibri"/>
              </a:rPr>
              <a:t>dokumentasi</a:t>
            </a:r>
            <a:r>
              <a:rPr sz="2000" b="1" dirty="0">
                <a:solidFill>
                  <a:srgbClr val="1B5E20"/>
                </a:solidFill>
                <a:latin typeface="Calibri"/>
              </a:rPr>
              <a:t> di </a:t>
            </a:r>
            <a:r>
              <a:rPr sz="2000" b="1" dirty="0" err="1" smtClean="0">
                <a:solidFill>
                  <a:srgbClr val="1B5E20"/>
                </a:solidFill>
                <a:latin typeface="Calibri"/>
              </a:rPr>
              <a:t>Git</a:t>
            </a:r>
            <a:endParaRPr sz="2000" b="1" dirty="0">
              <a:solidFill>
                <a:srgbClr val="1B5E2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ardrop 2"/>
          <p:cNvSpPr/>
          <p:nvPr/>
        </p:nvSpPr>
        <p:spPr>
          <a:xfrm rot="19800000">
            <a:off x="11475720" y="228600"/>
            <a:ext cx="411480" cy="411480"/>
          </a:xfrm>
          <a:prstGeom prst="teardrop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ardrop 3"/>
          <p:cNvSpPr/>
          <p:nvPr/>
        </p:nvSpPr>
        <p:spPr>
          <a:xfrm rot="19800000">
            <a:off x="11201400" y="411480"/>
            <a:ext cx="320040" cy="320040"/>
          </a:xfrm>
          <a:prstGeom prst="teardrop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>
                <a:solidFill>
                  <a:srgbClr val="1B5E20"/>
                </a:solidFill>
                <a:latin typeface="Calibri"/>
              </a:rPr>
              <a:t>Roadmap Singkat &amp; Penutup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608" y="868680"/>
            <a:ext cx="96012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 dirty="0">
                <a:latin typeface="Calibri"/>
              </a:rPr>
              <a:t>Yang </a:t>
            </a:r>
            <a:r>
              <a:rPr b="1" dirty="0" err="1">
                <a:latin typeface="Calibri"/>
              </a:rPr>
              <a:t>sudah</a:t>
            </a:r>
            <a:r>
              <a:rPr b="1" dirty="0">
                <a:latin typeface="Calibri"/>
              </a:rPr>
              <a:t> </a:t>
            </a:r>
            <a:r>
              <a:rPr b="1" dirty="0" err="1">
                <a:latin typeface="Calibri"/>
              </a:rPr>
              <a:t>jalan</a:t>
            </a:r>
            <a:r>
              <a:rPr b="1" dirty="0">
                <a:latin typeface="Calibri"/>
              </a:rPr>
              <a:t>, </a:t>
            </a:r>
            <a:r>
              <a:rPr b="1" dirty="0" err="1">
                <a:latin typeface="Calibri"/>
              </a:rPr>
              <a:t>sedang</a:t>
            </a:r>
            <a:r>
              <a:rPr b="1" dirty="0">
                <a:latin typeface="Calibri"/>
              </a:rPr>
              <a:t> </a:t>
            </a:r>
            <a:r>
              <a:rPr b="1" dirty="0" err="1">
                <a:latin typeface="Calibri"/>
              </a:rPr>
              <a:t>dikerjakan</a:t>
            </a:r>
            <a:r>
              <a:rPr b="1" dirty="0">
                <a:latin typeface="Calibri"/>
              </a:rPr>
              <a:t>, </a:t>
            </a:r>
            <a:r>
              <a:rPr b="1" dirty="0" err="1">
                <a:latin typeface="Calibri"/>
              </a:rPr>
              <a:t>dan</a:t>
            </a:r>
            <a:r>
              <a:rPr b="1" dirty="0">
                <a:latin typeface="Calibri"/>
              </a:rPr>
              <a:t> </a:t>
            </a:r>
            <a:r>
              <a:rPr b="1" dirty="0" err="1">
                <a:latin typeface="Calibri"/>
              </a:rPr>
              <a:t>rencana</a:t>
            </a:r>
            <a:r>
              <a:rPr b="1" dirty="0">
                <a:latin typeface="Calibri"/>
              </a:rPr>
              <a:t> </a:t>
            </a:r>
            <a:r>
              <a:rPr b="1" dirty="0" err="1">
                <a:latin typeface="Calibri"/>
              </a:rPr>
              <a:t>lanjut</a:t>
            </a:r>
            <a:endParaRPr b="1" dirty="0"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256000" cy="4445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dirty="0" smtClean="0">
                <a:solidFill>
                  <a:srgbClr val="5C6B63"/>
                </a:solidFill>
                <a:latin typeface="Calibri"/>
              </a:rPr>
              <a:t>13 </a:t>
            </a:r>
            <a:r>
              <a:rPr sz="1000" b="0" dirty="0">
                <a:solidFill>
                  <a:srgbClr val="5C6B63"/>
                </a:solidFill>
                <a:latin typeface="Calibri"/>
              </a:rPr>
              <a:t>/ </a:t>
            </a:r>
            <a:r>
              <a:rPr sz="1000" b="0" dirty="0" smtClean="0">
                <a:solidFill>
                  <a:srgbClr val="5C6B63"/>
                </a:solidFill>
                <a:latin typeface="Calibri"/>
              </a:rPr>
              <a:t>14</a:t>
            </a:r>
            <a:endParaRPr sz="1000" b="0" dirty="0">
              <a:solidFill>
                <a:srgbClr val="5C6B63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PowerOps  •  Inovasi Digital UBB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600200"/>
            <a:ext cx="3685032" cy="3383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1600200"/>
            <a:ext cx="3685032" cy="5486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692932"/>
            <a:ext cx="3685032" cy="36317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Calibri"/>
              </a:rPr>
              <a:t>✓  SUDAH JALAN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31720"/>
            <a:ext cx="3319272" cy="261302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dirty="0">
                <a:latin typeface="Calibri"/>
              </a:rPr>
              <a:t>●  </a:t>
            </a:r>
            <a:r>
              <a:rPr sz="1400" dirty="0">
                <a:latin typeface="Calibri"/>
              </a:rPr>
              <a:t>Dashboard parameter </a:t>
            </a:r>
            <a:r>
              <a:rPr sz="1400" dirty="0" err="1">
                <a:latin typeface="Calibri"/>
              </a:rPr>
              <a:t>aktual</a:t>
            </a:r>
            <a:endParaRPr sz="1400" dirty="0">
              <a:latin typeface="Calibri"/>
            </a:endParaRPr>
          </a:p>
          <a:p>
            <a:pPr algn="l">
              <a:lnSpc>
                <a:spcPct val="130000"/>
              </a:lnSpc>
            </a:pPr>
            <a:r>
              <a:rPr sz="1400" b="1" dirty="0">
                <a:latin typeface="Calibri"/>
              </a:rPr>
              <a:t>●  </a:t>
            </a:r>
            <a:r>
              <a:rPr sz="1400" dirty="0">
                <a:latin typeface="Calibri"/>
              </a:rPr>
              <a:t>Tank Level (DEMIN/RCW/SOLAR)</a:t>
            </a:r>
          </a:p>
          <a:p>
            <a:pPr algn="l">
              <a:lnSpc>
                <a:spcPct val="130000"/>
              </a:lnSpc>
            </a:pPr>
            <a:r>
              <a:rPr sz="1400" b="1" dirty="0">
                <a:latin typeface="Calibri"/>
              </a:rPr>
              <a:t>●  </a:t>
            </a:r>
            <a:r>
              <a:rPr sz="1400" dirty="0">
                <a:latin typeface="Calibri"/>
              </a:rPr>
              <a:t>Solar unloading &amp; </a:t>
            </a:r>
            <a:r>
              <a:rPr sz="1400" dirty="0" err="1">
                <a:latin typeface="Calibri"/>
              </a:rPr>
              <a:t>permintaan</a:t>
            </a:r>
            <a:endParaRPr sz="1400" dirty="0">
              <a:latin typeface="Calibri"/>
            </a:endParaRPr>
          </a:p>
          <a:p>
            <a:pPr algn="l">
              <a:lnSpc>
                <a:spcPct val="130000"/>
              </a:lnSpc>
            </a:pPr>
            <a:r>
              <a:rPr sz="1400" b="1" dirty="0">
                <a:latin typeface="Calibri"/>
              </a:rPr>
              <a:t>●  </a:t>
            </a:r>
            <a:r>
              <a:rPr sz="1400" dirty="0" err="1">
                <a:latin typeface="Calibri"/>
              </a:rPr>
              <a:t>Logsheet</a:t>
            </a:r>
            <a:r>
              <a:rPr sz="1400" dirty="0">
                <a:latin typeface="Calibri"/>
              </a:rPr>
              <a:t> 3 shift × 9 tab</a:t>
            </a:r>
          </a:p>
          <a:p>
            <a:pPr algn="l">
              <a:lnSpc>
                <a:spcPct val="130000"/>
              </a:lnSpc>
            </a:pPr>
            <a:r>
              <a:rPr sz="1400" b="1" dirty="0">
                <a:latin typeface="Calibri"/>
              </a:rPr>
              <a:t>●  </a:t>
            </a:r>
            <a:r>
              <a:rPr sz="1400" dirty="0" err="1">
                <a:latin typeface="Calibri"/>
              </a:rPr>
              <a:t>Laporan</a:t>
            </a:r>
            <a:r>
              <a:rPr sz="1400" dirty="0">
                <a:latin typeface="Calibri"/>
              </a:rPr>
              <a:t> </a:t>
            </a:r>
            <a:r>
              <a:rPr sz="1400" dirty="0" err="1">
                <a:latin typeface="Calibri"/>
              </a:rPr>
              <a:t>Harian</a:t>
            </a:r>
            <a:r>
              <a:rPr sz="1400" dirty="0">
                <a:latin typeface="Calibri"/>
              </a:rPr>
              <a:t> (LHUBB)</a:t>
            </a:r>
          </a:p>
          <a:p>
            <a:pPr algn="l">
              <a:lnSpc>
                <a:spcPct val="130000"/>
              </a:lnSpc>
            </a:pPr>
            <a:r>
              <a:rPr sz="1400" b="1" dirty="0">
                <a:latin typeface="Calibri"/>
              </a:rPr>
              <a:t>●  </a:t>
            </a:r>
            <a:r>
              <a:rPr sz="1400" dirty="0">
                <a:latin typeface="Calibri"/>
              </a:rPr>
              <a:t>Critical + Maintenance</a:t>
            </a:r>
          </a:p>
          <a:p>
            <a:pPr algn="l">
              <a:lnSpc>
                <a:spcPct val="130000"/>
              </a:lnSpc>
            </a:pPr>
            <a:r>
              <a:rPr sz="1400" b="1" dirty="0">
                <a:latin typeface="Calibri"/>
              </a:rPr>
              <a:t>●  </a:t>
            </a:r>
            <a:r>
              <a:rPr sz="1400" dirty="0">
                <a:latin typeface="Calibri"/>
              </a:rPr>
              <a:t>History viewer</a:t>
            </a:r>
          </a:p>
          <a:p>
            <a:pPr algn="l">
              <a:lnSpc>
                <a:spcPct val="130000"/>
              </a:lnSpc>
            </a:pPr>
            <a:r>
              <a:rPr sz="1400" b="1" dirty="0">
                <a:latin typeface="Calibri"/>
              </a:rPr>
              <a:t>●  </a:t>
            </a:r>
            <a:r>
              <a:rPr sz="1400" dirty="0" err="1">
                <a:latin typeface="Calibri"/>
              </a:rPr>
              <a:t>Kanban</a:t>
            </a:r>
            <a:r>
              <a:rPr sz="1400" dirty="0">
                <a:latin typeface="Calibri"/>
              </a:rPr>
              <a:t> task board</a:t>
            </a:r>
          </a:p>
          <a:p>
            <a:pPr algn="l">
              <a:lnSpc>
                <a:spcPct val="130000"/>
              </a:lnSpc>
            </a:pPr>
            <a:r>
              <a:rPr sz="1400" b="1" dirty="0">
                <a:latin typeface="Calibri"/>
              </a:rPr>
              <a:t>●  </a:t>
            </a:r>
            <a:r>
              <a:rPr sz="1400" dirty="0">
                <a:latin typeface="Calibri"/>
              </a:rPr>
              <a:t>Sync Google Sheets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600200"/>
            <a:ext cx="3685032" cy="3383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43400" y="1600200"/>
            <a:ext cx="3685032" cy="54864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43400" y="1692932"/>
            <a:ext cx="3685032" cy="36317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Calibri"/>
              </a:rPr>
              <a:t>⊛  SEDANG DISEMPURNAKAN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331720"/>
            <a:ext cx="3319272" cy="205287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</a:pPr>
            <a:r>
              <a:rPr sz="1400" b="1" dirty="0">
                <a:latin typeface="Calibri"/>
              </a:rPr>
              <a:t>●  </a:t>
            </a:r>
            <a:r>
              <a:rPr sz="1400" dirty="0">
                <a:latin typeface="Calibri"/>
              </a:rPr>
              <a:t>Dashboard stream </a:t>
            </a:r>
            <a:r>
              <a:rPr sz="1400" dirty="0" smtClean="0">
                <a:latin typeface="Calibri"/>
              </a:rPr>
              <a:t>days</a:t>
            </a:r>
            <a:br>
              <a:rPr sz="1400" dirty="0" smtClean="0">
                <a:latin typeface="Calibri"/>
              </a:rPr>
            </a:br>
            <a:r>
              <a:rPr lang="en-US" sz="1400" b="1" dirty="0"/>
              <a:t>●  </a:t>
            </a:r>
            <a:r>
              <a:rPr lang="id-ID" sz="1400" dirty="0" smtClean="0"/>
              <a:t>Memberikan status pada tiap item yaitu Running, Standby, emergency standby, not standby</a:t>
            </a:r>
            <a:endParaRPr sz="1400" dirty="0">
              <a:latin typeface="Calibri"/>
            </a:endParaRPr>
          </a:p>
          <a:p>
            <a:pPr algn="l">
              <a:lnSpc>
                <a:spcPct val="130000"/>
              </a:lnSpc>
            </a:pPr>
            <a:r>
              <a:rPr sz="1400" b="1" dirty="0">
                <a:latin typeface="Calibri"/>
              </a:rPr>
              <a:t>●  </a:t>
            </a:r>
            <a:r>
              <a:rPr sz="1400" dirty="0" err="1">
                <a:latin typeface="Calibri"/>
              </a:rPr>
              <a:t>Notifikasi</a:t>
            </a:r>
            <a:r>
              <a:rPr sz="1400" dirty="0">
                <a:latin typeface="Calibri"/>
              </a:rPr>
              <a:t> </a:t>
            </a:r>
            <a:r>
              <a:rPr sz="1400" dirty="0" err="1">
                <a:latin typeface="Calibri"/>
              </a:rPr>
              <a:t>WhatsApp</a:t>
            </a:r>
            <a:r>
              <a:rPr sz="1400" dirty="0">
                <a:latin typeface="Calibri"/>
              </a:rPr>
              <a:t> </a:t>
            </a:r>
            <a:r>
              <a:rPr sz="1400" dirty="0" err="1">
                <a:latin typeface="Calibri"/>
              </a:rPr>
              <a:t>otomatis</a:t>
            </a:r>
            <a:r>
              <a:rPr sz="1400" dirty="0">
                <a:latin typeface="Calibri"/>
              </a:rPr>
              <a:t> </a:t>
            </a:r>
            <a:r>
              <a:rPr sz="1400" dirty="0" err="1">
                <a:latin typeface="Calibri"/>
              </a:rPr>
              <a:t>untuk</a:t>
            </a:r>
            <a:r>
              <a:rPr sz="1400" dirty="0">
                <a:latin typeface="Calibri"/>
              </a:rPr>
              <a:t> </a:t>
            </a:r>
            <a:r>
              <a:rPr sz="1400" dirty="0" err="1">
                <a:latin typeface="Calibri"/>
              </a:rPr>
              <a:t>kondisi</a:t>
            </a:r>
            <a:r>
              <a:rPr sz="1400" dirty="0">
                <a:latin typeface="Calibri"/>
              </a:rPr>
              <a:t> </a:t>
            </a:r>
            <a:r>
              <a:rPr sz="1400" dirty="0" err="1">
                <a:latin typeface="Calibri"/>
              </a:rPr>
              <a:t>kritis</a:t>
            </a:r>
            <a:endParaRPr sz="1400" dirty="0">
              <a:latin typeface="Calibri"/>
            </a:endParaRPr>
          </a:p>
          <a:p>
            <a:pPr algn="l">
              <a:lnSpc>
                <a:spcPct val="130000"/>
              </a:lnSpc>
            </a:pPr>
            <a:r>
              <a:rPr sz="1400" b="1" dirty="0">
                <a:latin typeface="Calibri"/>
              </a:rPr>
              <a:t>●  </a:t>
            </a:r>
            <a:r>
              <a:rPr sz="1400" dirty="0" err="1">
                <a:latin typeface="Calibri"/>
              </a:rPr>
              <a:t>Penyempurnaan</a:t>
            </a:r>
            <a:r>
              <a:rPr sz="1400" dirty="0">
                <a:latin typeface="Calibri"/>
              </a:rPr>
              <a:t> UX </a:t>
            </a:r>
            <a:r>
              <a:rPr sz="1400" dirty="0" err="1">
                <a:latin typeface="Calibri"/>
              </a:rPr>
              <a:t>laporan</a:t>
            </a:r>
            <a:endParaRPr sz="1400" dirty="0"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138160" y="1600200"/>
            <a:ext cx="3685032" cy="3383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38160" y="1600200"/>
            <a:ext cx="3685032" cy="548640"/>
          </a:xfrm>
          <a:prstGeom prst="rect">
            <a:avLst/>
          </a:prstGeom>
          <a:solidFill>
            <a:srgbClr val="8D6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38160" y="1692932"/>
            <a:ext cx="3685032" cy="36317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Calibri"/>
              </a:rPr>
              <a:t>▶  RENCANA LANJUT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331720"/>
            <a:ext cx="3319272" cy="10525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dirty="0">
                <a:latin typeface="Calibri"/>
              </a:rPr>
              <a:t>●  </a:t>
            </a:r>
            <a:r>
              <a:rPr sz="1600" dirty="0" err="1">
                <a:latin typeface="Calibri"/>
              </a:rPr>
              <a:t>Prediksi</a:t>
            </a:r>
            <a:r>
              <a:rPr sz="1600" dirty="0">
                <a:latin typeface="Calibri"/>
              </a:rPr>
              <a:t>/</a:t>
            </a:r>
            <a:r>
              <a:rPr sz="1600" dirty="0" err="1">
                <a:latin typeface="Calibri"/>
              </a:rPr>
              <a:t>analitik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tren</a:t>
            </a:r>
            <a:r>
              <a:rPr sz="1600" dirty="0">
                <a:latin typeface="Calibri"/>
              </a:rPr>
              <a:t> </a:t>
            </a:r>
            <a:r>
              <a:rPr sz="1600" dirty="0" err="1" smtClean="0">
                <a:latin typeface="Calibri"/>
              </a:rPr>
              <a:t>kerusakan</a:t>
            </a:r>
            <a:endParaRPr sz="1600" dirty="0" smtClean="0">
              <a:latin typeface="Calibri"/>
            </a:endParaRPr>
          </a:p>
          <a:p>
            <a:pPr>
              <a:lnSpc>
                <a:spcPct val="130000"/>
              </a:lnSpc>
            </a:pPr>
            <a:r>
              <a:rPr lang="id-ID" sz="1600" b="1" dirty="0"/>
              <a:t>●  </a:t>
            </a:r>
            <a:r>
              <a:rPr lang="id-ID" sz="1600" dirty="0" smtClean="0"/>
              <a:t>Detail kapasitas tiap item</a:t>
            </a:r>
            <a:endParaRPr sz="1600" dirty="0">
              <a:latin typeface="Calibri"/>
            </a:endParaRPr>
          </a:p>
          <a:p>
            <a:pPr algn="l">
              <a:lnSpc>
                <a:spcPct val="130000"/>
              </a:lnSpc>
            </a:pPr>
            <a:r>
              <a:rPr sz="1600" b="1" dirty="0">
                <a:latin typeface="Calibri"/>
              </a:rPr>
              <a:t>●  </a:t>
            </a:r>
            <a:r>
              <a:rPr sz="1600" dirty="0" err="1">
                <a:latin typeface="Calibri"/>
              </a:rPr>
              <a:t>Integrasi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langsung</a:t>
            </a:r>
            <a:r>
              <a:rPr sz="1600" dirty="0">
                <a:latin typeface="Calibri"/>
              </a:rPr>
              <a:t> sensor (OPC UA</a:t>
            </a:r>
            <a:r>
              <a:rPr sz="1600" dirty="0" smtClean="0">
                <a:latin typeface="Calibri"/>
              </a:rPr>
              <a:t>)</a:t>
            </a:r>
            <a:endParaRPr sz="1600" dirty="0">
              <a:latin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8640" y="5120640"/>
            <a:ext cx="11064240" cy="1280160"/>
          </a:xfrm>
          <a:prstGeom prst="roundRect">
            <a:avLst>
              <a:gd name="adj" fmla="val 10000"/>
            </a:avLst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5212080"/>
            <a:ext cx="106984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Dukungan yang Dibutuhkan dari Manajemen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732806"/>
            <a:ext cx="10698480" cy="24006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alibri"/>
              </a:rPr>
              <a:t>(1)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Legitimasi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PowerOps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sebagai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tool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resmi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UBB   •   (2)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Standarisasi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pemakaian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lintas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shift   •   (3)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Bantuan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onboarding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seluruh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operator &amp; foreman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ardrop 2"/>
          <p:cNvSpPr/>
          <p:nvPr/>
        </p:nvSpPr>
        <p:spPr>
          <a:xfrm rot="19800000">
            <a:off x="548640" y="548640"/>
            <a:ext cx="1005840" cy="1005840"/>
          </a:xfrm>
          <a:prstGeom prst="teardrop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ardrop 3"/>
          <p:cNvSpPr/>
          <p:nvPr/>
        </p:nvSpPr>
        <p:spPr>
          <a:xfrm rot="19800000">
            <a:off x="1463040" y="365760"/>
            <a:ext cx="640080" cy="640080"/>
          </a:xfrm>
          <a:prstGeom prst="teardrop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ardrop 4"/>
          <p:cNvSpPr/>
          <p:nvPr/>
        </p:nvSpPr>
        <p:spPr>
          <a:xfrm rot="19800000">
            <a:off x="10607040" y="1554480"/>
            <a:ext cx="914400" cy="914400"/>
          </a:xfrm>
          <a:prstGeom prst="teardrop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ardrop 5"/>
          <p:cNvSpPr/>
          <p:nvPr/>
        </p:nvSpPr>
        <p:spPr>
          <a:xfrm rot="19800000">
            <a:off x="11064240" y="2011680"/>
            <a:ext cx="548640" cy="548640"/>
          </a:xfrm>
          <a:prstGeom prst="teardrop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13716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1124712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7200" b="1">
                <a:solidFill>
                  <a:srgbClr val="1B5E20"/>
                </a:solidFill>
                <a:latin typeface="Calibri"/>
              </a:rPr>
              <a:t>Terima Kasih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3246120"/>
            <a:ext cx="1188720" cy="4445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112471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800" b="1" dirty="0" err="1">
                <a:solidFill>
                  <a:srgbClr val="22332B"/>
                </a:solidFill>
                <a:latin typeface="Calibri"/>
              </a:rPr>
              <a:t>Pertanyaan</a:t>
            </a:r>
            <a:r>
              <a:rPr sz="2800" b="1" dirty="0">
                <a:solidFill>
                  <a:srgbClr val="22332B"/>
                </a:solidFill>
                <a:latin typeface="Calibri"/>
              </a:rPr>
              <a:t> &amp; </a:t>
            </a:r>
            <a:r>
              <a:rPr sz="2800" b="1" dirty="0" err="1">
                <a:solidFill>
                  <a:srgbClr val="22332B"/>
                </a:solidFill>
                <a:latin typeface="Calibri"/>
              </a:rPr>
              <a:t>Diskusi</a:t>
            </a:r>
            <a:endParaRPr sz="2800" b="1" dirty="0">
              <a:solidFill>
                <a:srgbClr val="22332B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77295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1" dirty="0" err="1">
                <a:solidFill>
                  <a:srgbClr val="FFFFFF"/>
                </a:solidFill>
                <a:latin typeface="Calibri"/>
              </a:rPr>
              <a:t>PowerOps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  •  </a:t>
            </a:r>
            <a:r>
              <a:rPr sz="1600" b="1" dirty="0" err="1">
                <a:solidFill>
                  <a:srgbClr val="FFFFFF"/>
                </a:solidFill>
                <a:latin typeface="Calibri"/>
              </a:rPr>
              <a:t>Teknologi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 Digital </a:t>
            </a:r>
            <a:r>
              <a:rPr sz="1600" b="1" dirty="0" err="1">
                <a:solidFill>
                  <a:srgbClr val="FFFFFF"/>
                </a:solidFill>
                <a:latin typeface="Calibri"/>
              </a:rPr>
              <a:t>untuk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Calibri"/>
              </a:rPr>
              <a:t>Operasi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Calibri"/>
              </a:rPr>
              <a:t>Pabrik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 Agro-</a:t>
            </a:r>
            <a:r>
              <a:rPr sz="1600" b="1" dirty="0" err="1">
                <a:solidFill>
                  <a:srgbClr val="FFFFFF"/>
                </a:solidFill>
                <a:latin typeface="Calibri"/>
              </a:rPr>
              <a:t>Industri</a:t>
            </a:r>
            <a:endParaRPr sz="1600" b="1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3817</TotalTime>
  <Words>1416</Words>
  <Application>Microsoft Office PowerPoint</Application>
  <PresentationFormat>Widescreen</PresentationFormat>
  <Paragraphs>234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24</cp:revision>
  <dcterms:created xsi:type="dcterms:W3CDTF">2013-01-27T09:14:16Z</dcterms:created>
  <dcterms:modified xsi:type="dcterms:W3CDTF">2026-05-06T12:25:37Z</dcterms:modified>
  <cp:category/>
</cp:coreProperties>
</file>